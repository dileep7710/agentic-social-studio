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(बोलने के लिए):</a:t>
            </a:r>
          </a:p>
          <a:p/>
          <a:p>
            <a:r>
              <a:t>Respected professors and jury members, good morning. Aaj main apna B.Tech capstone project present kar raha hoon jiska naam hai 'Agentic AI Omni-Studio'. Yeh ek autonomous AI content orchestration aur secure broadcasting system hai, jo 1 single creative thought ko 5 alag-alag social media platforms ke hisaab se customize karta hai aur 1-click me publish karta hai.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(बोलने के लिए):</a:t>
            </a:r>
          </a:p>
          <a:p/>
          <a:p>
            <a:r>
              <a:t>Social media management me sabse badi problem fragmentation ki hai. Har platform ki audience aur format alag hai. Plus traditional tools bohot complex hain aur tokens plain text me store karke security risk banate hain.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(बोलने के लिए):</a:t>
            </a:r>
          </a:p>
          <a:p/>
          <a:p>
            <a:r>
              <a:t>Hamara objective ek aisa system banana tha jo AI autonomy, enterprise-grade security aur consumer-level simplicity ko ek sath laaye — taaki chahe technical user ho ya non-technical, sab 1-click me broadcast kar sakein.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(बोलने के लिए):</a:t>
            </a:r>
          </a:p>
          <a:p/>
          <a:p>
            <a:r>
              <a:t>Hamara system 5-tier architecture par based hai. Client request FastAPI gateway par aati hai jo rate-limiter aur security headers se protected hai. Wahan se AI Core content plan karta hai, Pillow engine 4K media generate karta hai, aur dual-mode dispatchers use broadcast karte hain.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(बोलने के लिए):</a:t>
            </a:r>
          </a:p>
          <a:p/>
          <a:p>
            <a:r>
              <a:t>Simple chatbots aur Agentic AI me yeh farak hai ki Agentic AI ek cognitive loop follow karta hai — yeh goal samajhta hai, plan banata hai, appropriate tool choose karta hai aur error aane par khud fallback strategy apply karta hai.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(बोलने के लिए):</a:t>
            </a:r>
          </a:p>
          <a:p/>
          <a:p>
            <a:r>
              <a:t>Goal Manager user ke input ka theme pehchanta hai aur AI Planner use 4 sequential sub-tasks me divide karta hai. Isme humne deterministic fallback bhi diya hai taaki internet na hone par bhi planning 100% chale.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(बोलने के लिए):</a:t>
            </a:r>
          </a:p>
          <a:p/>
          <a:p>
            <a:r>
              <a:t>Slide 8 concept hamara core USP hai. Content Adapter ek hi quote ko 5 alag formats me convert karta hai taaki har social media algorithm par post organically perform kare bina copy-paste lage.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(बोलने के लिए):</a:t>
            </a:r>
          </a:p>
          <a:p/>
          <a:p>
            <a:r>
              <a:t>Hamara visual engine Pillow library use karke 0.78 seconds me multi-layer frosted glass card render karta hai. Yeh dynamically text width aur line spacing calculate karke user ka custom watermark embed karta hai.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(बोलने के लिए):</a:t>
            </a:r>
          </a:p>
          <a:p/>
          <a:p>
            <a:r>
              <a:t>Meta aur LinkedIn APIs ko image download karne ke liye public HTTPS URL chahiye hota hai. Hamara multi-CDN pipeline local image ko automatically upload karke instant live link provide karta hai.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(बोलने के लिए):</a:t>
            </a:r>
          </a:p>
          <a:p/>
          <a:p>
            <a:r>
              <a:t>Humne dual-mode dispatch banaya hai. Normal users Canva aur Spotify ki tarah bina password/token ke 1-click me share kar sakte hain. Aur professional creators Meta aur LinkedIn tokens daal kar background me automated post kar sakte hain.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(बोलने के लिए):</a:t>
            </a:r>
          </a:p>
          <a:p/>
          <a:p>
            <a:r>
              <a:t>Security ke liye humne sabhi OAuth tokens ko AES-256-GCM se encrypt kiya hai. Agar koi hacker database file chori bhi kar le, toh bhi wo raw tokens ko decrypt nahi kar payega.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(बोलने के लिए):</a:t>
            </a:r>
          </a:p>
          <a:p/>
          <a:p>
            <a:r>
              <a:t>Humne localStorage ke bajaye HttpOnly cookies use ki hain jo XSS attacks se bachati hain. Refresh Token Rotation se user Google/Instagram ki tarah securely logged in rehta hai bina bar-bar password dale.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(बोलने के लिए):</a:t>
            </a:r>
          </a:p>
          <a:p/>
          <a:p>
            <a:r>
              <a:t>Credential stuffing aur brute-force attacks ko rokne ke liye humne 5-attempt lockout policy lagayi hai, sath hi Content Security Policy aur strict HTTP headers implement kiye hain.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(बोलने के लिए):</a:t>
            </a:r>
          </a:p>
          <a:p/>
          <a:p>
            <a:r>
              <a:t>Hum file extensions par trust nahi karte. Server file ke starting 64 bytes (Magic Bytes) inspect karta hai taaki koi malicious script ya executable ko .png bana kar upload na kar sake.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(बोलने के लिए):</a:t>
            </a:r>
          </a:p>
          <a:p/>
          <a:p>
            <a:r>
              <a:t>IDOR vulnerability se bachne ke liye client ke bheje hue user_id par kabhi trust nahi kiya jata; server cryptographically signed token se user verify karke hi data access allow karta hai.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(बोलने के लिए):</a:t>
            </a:r>
          </a:p>
          <a:p/>
          <a:p>
            <a:r>
              <a:t>Database schema fully normalized hai aur GDPR 'Right to be Forgotten' rule follow karta hai — account delete karne par user ke sabhi encrypted tokens, media aur sessions instantly wipe ho jate hain.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(बोलने के लिए):</a:t>
            </a:r>
          </a:p>
          <a:p/>
          <a:p>
            <a:r>
              <a:t>UI modern Glassmorphism theme par design kiya gaya hai. Isme English aur Hindi dono ka support hai, real-time input verification hai aur active sessions manage karne ka pura control hai.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(बोलने के लिए):</a:t>
            </a:r>
          </a:p>
          <a:p/>
          <a:p>
            <a:r>
              <a:t>Humne 23 automated tests run kiye jisme token encryption, brute-force lockout, IDOR defense aur 10 simultaneous users ka load test shamil tha. Saare tests 100% pass hue.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(बोलने के लिए):</a:t>
            </a:r>
          </a:p>
          <a:p/>
          <a:p>
            <a:r>
              <a:t>Future me hum isme automated AI Video Reels generator, multi-lingual neural voice synthesis aur calendar-based automated scheduling system add karne ka plan kar rahe hain.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(बोलने के लिए):</a:t>
            </a:r>
          </a:p>
          <a:p/>
          <a:p>
            <a:r>
              <a:t>In conclusion, Agentic AI Omni-Studio yeh prove karta hai ki complex AI architecture ko bank-grade security aur extreme simplicity ke sath deploy kiya ja sakta hai. Thank you professors, ab aapke questions ke liye main ready hoon.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9966960" cy="3474720"/>
          </a:xfrm>
          <a:prstGeom prst="rect">
            <a:avLst/>
          </a:prstGeom>
          <a:noFill/>
        </p:spPr>
        <p:txBody>
          <a:bodyPr wrap="square">
            <a:spAutoFit/>
          </a:bodyPr>
          <a:lstStyle/>
          <a:p>
            <a:pPr>
              <a:spcAft>
                <a:spcPts val="1000"/>
              </a:spcAft>
              <a:defRPr sz="3600" b="1">
                <a:solidFill>
                  <a:srgbClr val="FBBF24"/>
                </a:solidFill>
              </a:defRPr>
            </a:pPr>
            <a:r>
              <a:t>🌌 AGENTIC AI OMNI-STUDIO</a:t>
            </a:r>
          </a:p>
          <a:p>
            <a:pPr>
              <a:spcAft>
                <a:spcPts val="2500"/>
              </a:spcAft>
              <a:defRPr sz="1800">
                <a:solidFill>
                  <a:srgbClr val="38BDF8"/>
                </a:solidFill>
              </a:defRPr>
            </a:pPr>
            <a:r>
              <a:t>Autonomous Multi-Platform Content Orchestration with AES-256-GCM Security &amp; 4K Visual Engine</a:t>
            </a:r>
          </a:p>
          <a:p>
            <a:pPr>
              <a:defRPr sz="1400">
                <a:solidFill>
                  <a:srgbClr val="94A3B8"/>
                </a:solidFill>
              </a:defRPr>
            </a:pPr>
            <a:r>
              <a:t>Author: Dileep Yadav  |  Department: Computer Science &amp; Engineering (B.Tech)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 CHALLENGES IN SOCIAL AUTOMATION</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defRPr>
            </a:pPr>
            <a:r>
              <a:t>Problem Statement &amp; Industry Challenges</a:t>
            </a:r>
          </a:p>
        </p:txBody>
      </p:sp>
      <p:sp>
        <p:nvSpPr>
          <p:cNvPr id="5" name="Rounded Rectangle 4"/>
          <p:cNvSpPr/>
          <p:nvPr/>
        </p:nvSpPr>
        <p:spPr>
          <a:xfrm>
            <a:off x="731520" y="1645920"/>
            <a:ext cx="512064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4206240"/>
          </a:xfrm>
          <a:prstGeom prst="rect">
            <a:avLst/>
          </a:prstGeom>
          <a:noFill/>
        </p:spPr>
        <p:txBody>
          <a:bodyPr wrap="square">
            <a:spAutoFit/>
          </a:bodyPr>
          <a:lstStyle/>
          <a:p>
            <a:pPr>
              <a:spcAft>
                <a:spcPts val="1000"/>
              </a:spcAft>
              <a:defRPr sz="1600" b="1">
                <a:solidFill>
                  <a:srgbClr val="FBBF24"/>
                </a:solidFill>
              </a:defRPr>
            </a:pPr>
            <a:r>
              <a:t>1. Content Fragmentation</a:t>
            </a:r>
          </a:p>
          <a:p>
            <a:pPr>
              <a:spcAft>
                <a:spcPts val="600"/>
              </a:spcAft>
              <a:defRPr sz="1300">
                <a:solidFill>
                  <a:srgbClr val="F8FAFC"/>
                </a:solidFill>
              </a:defRPr>
            </a:pPr>
            <a:r>
              <a:t>• Every platform requires unique copy, tone, and formatting.</a:t>
            </a:r>
          </a:p>
          <a:p>
            <a:pPr>
              <a:spcAft>
                <a:spcPts val="600"/>
              </a:spcAft>
              <a:defRPr sz="1300">
                <a:solidFill>
                  <a:srgbClr val="F8FAFC"/>
                </a:solidFill>
              </a:defRPr>
            </a:pPr>
            <a:r>
              <a:t>• LinkedIn demands professional executive structure.</a:t>
            </a:r>
          </a:p>
          <a:p>
            <a:pPr>
              <a:spcAft>
                <a:spcPts val="600"/>
              </a:spcAft>
              <a:defRPr sz="1300">
                <a:solidFill>
                  <a:srgbClr val="F8FAFC"/>
                </a:solidFill>
              </a:defRPr>
            </a:pPr>
            <a:r>
              <a:t>• Instagram requires aesthetic emojis and visual hashtags.</a:t>
            </a:r>
          </a:p>
          <a:p>
            <a:pPr>
              <a:spcAft>
                <a:spcPts val="600"/>
              </a:spcAft>
              <a:defRPr sz="1300">
                <a:solidFill>
                  <a:srgbClr val="F8FAFC"/>
                </a:solidFill>
              </a:defRPr>
            </a:pPr>
            <a:r>
              <a:t>• X (Twitter) enforces strict 280-character viral limits.</a:t>
            </a:r>
          </a:p>
          <a:p>
            <a:pPr>
              <a:spcAft>
                <a:spcPts val="600"/>
              </a:spcAft>
              <a:defRPr sz="1300">
                <a:solidFill>
                  <a:srgbClr val="F8FAFC"/>
                </a:solidFill>
              </a:defRPr>
            </a:pPr>
            <a:r>
              <a:t>• Copy-pasting identical text causes audience disconnect.</a:t>
            </a:r>
          </a:p>
        </p:txBody>
      </p:sp>
      <p:sp>
        <p:nvSpPr>
          <p:cNvPr id="7" name="Rounded Rectangle 6"/>
          <p:cNvSpPr/>
          <p:nvPr/>
        </p:nvSpPr>
        <p:spPr>
          <a:xfrm>
            <a:off x="6217920" y="1645920"/>
            <a:ext cx="512064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663440" cy="4206240"/>
          </a:xfrm>
          <a:prstGeom prst="rect">
            <a:avLst/>
          </a:prstGeom>
          <a:noFill/>
        </p:spPr>
        <p:txBody>
          <a:bodyPr wrap="square">
            <a:spAutoFit/>
          </a:bodyPr>
          <a:lstStyle/>
          <a:p>
            <a:pPr>
              <a:spcAft>
                <a:spcPts val="1000"/>
              </a:spcAft>
              <a:defRPr sz="1600" b="1">
                <a:solidFill>
                  <a:srgbClr val="A855F7"/>
                </a:solidFill>
              </a:defRPr>
            </a:pPr>
            <a:r>
              <a:t>2. Friction &amp; Security Risks</a:t>
            </a:r>
          </a:p>
          <a:p>
            <a:pPr>
              <a:spcAft>
                <a:spcPts val="600"/>
              </a:spcAft>
              <a:defRPr sz="1300">
                <a:solidFill>
                  <a:srgbClr val="F8FAFC"/>
                </a:solidFill>
              </a:defRPr>
            </a:pPr>
            <a:r>
              <a:t>• Hootsuite / Buffer require complex developer accounts and fees.</a:t>
            </a:r>
          </a:p>
          <a:p>
            <a:pPr>
              <a:spcAft>
                <a:spcPts val="600"/>
              </a:spcAft>
              <a:defRPr sz="1300">
                <a:solidFill>
                  <a:srgbClr val="F8FAFC"/>
                </a:solidFill>
              </a:defRPr>
            </a:pPr>
            <a:r>
              <a:t>• Normal users cannot configure OAuth tokens or Facebook Apps.</a:t>
            </a:r>
          </a:p>
          <a:p>
            <a:pPr>
              <a:spcAft>
                <a:spcPts val="600"/>
              </a:spcAft>
              <a:defRPr sz="1300">
                <a:solidFill>
                  <a:srgbClr val="F8FAFC"/>
                </a:solidFill>
              </a:defRPr>
            </a:pPr>
            <a:r>
              <a:t>• Traditional automation tools store access tokens in plaintext.</a:t>
            </a:r>
          </a:p>
          <a:p>
            <a:pPr>
              <a:spcAft>
                <a:spcPts val="600"/>
              </a:spcAft>
              <a:defRPr sz="1300">
                <a:solidFill>
                  <a:srgbClr val="F8FAFC"/>
                </a:solidFill>
              </a:defRPr>
            </a:pPr>
            <a:r>
              <a:t>• Exposed tokens lead to account hijacking and data leaks.</a:t>
            </a:r>
          </a:p>
          <a:p>
            <a:pPr>
              <a:spcAft>
                <a:spcPts val="600"/>
              </a:spcAft>
              <a:defRPr sz="1300">
                <a:solidFill>
                  <a:srgbClr val="F8FAFC"/>
                </a:solidFill>
              </a:defRPr>
            </a:pPr>
            <a:r>
              <a:t>• Creators waste 2-3 hours daily doing repetitive resizing.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 CORE GOALS</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defRPr>
            </a:pPr>
            <a:r>
              <a:t>Project Vision &amp; Core Objectives</a:t>
            </a:r>
          </a:p>
        </p:txBody>
      </p:sp>
      <p:sp>
        <p:nvSpPr>
          <p:cNvPr id="5" name="Rounded Rectangle 4"/>
          <p:cNvSpPr/>
          <p:nvPr/>
        </p:nvSpPr>
        <p:spPr>
          <a:xfrm>
            <a:off x="731520" y="1645920"/>
            <a:ext cx="329184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834640" cy="4206240"/>
          </a:xfrm>
          <a:prstGeom prst="rect">
            <a:avLst/>
          </a:prstGeom>
          <a:noFill/>
        </p:spPr>
        <p:txBody>
          <a:bodyPr wrap="square">
            <a:spAutoFit/>
          </a:bodyPr>
          <a:lstStyle/>
          <a:p>
            <a:pPr>
              <a:spcAft>
                <a:spcPts val="1000"/>
              </a:spcAft>
              <a:defRPr sz="1600" b="1">
                <a:solidFill>
                  <a:srgbClr val="38BDF8"/>
                </a:solidFill>
              </a:defRPr>
            </a:pPr>
            <a:r>
              <a:t>Autonomous Planning</a:t>
            </a:r>
          </a:p>
          <a:p>
            <a:pPr>
              <a:spcAft>
                <a:spcPts val="600"/>
              </a:spcAft>
              <a:defRPr sz="1300">
                <a:solidFill>
                  <a:srgbClr val="F8FAFC"/>
                </a:solidFill>
              </a:defRPr>
            </a:pPr>
            <a:r>
              <a:t>• Goal extraction from raw ideas.</a:t>
            </a:r>
          </a:p>
          <a:p>
            <a:pPr>
              <a:spcAft>
                <a:spcPts val="600"/>
              </a:spcAft>
              <a:defRPr sz="1300">
                <a:solidFill>
                  <a:srgbClr val="F8FAFC"/>
                </a:solidFill>
              </a:defRPr>
            </a:pPr>
            <a:r>
              <a:t>• Sequential sub-task creation.</a:t>
            </a:r>
          </a:p>
          <a:p>
            <a:pPr>
              <a:spcAft>
                <a:spcPts val="600"/>
              </a:spcAft>
              <a:defRPr sz="1300">
                <a:solidFill>
                  <a:srgbClr val="F8FAFC"/>
                </a:solidFill>
              </a:defRPr>
            </a:pPr>
            <a:r>
              <a:t>• Self-correcting error handling.</a:t>
            </a:r>
          </a:p>
          <a:p>
            <a:pPr>
              <a:spcAft>
                <a:spcPts val="600"/>
              </a:spcAft>
              <a:defRPr sz="1300">
                <a:solidFill>
                  <a:srgbClr val="F8FAFC"/>
                </a:solidFill>
              </a:defRPr>
            </a:pPr>
            <a:r>
              <a:t>• Works offline &amp; online seamlessly.</a:t>
            </a:r>
          </a:p>
        </p:txBody>
      </p:sp>
      <p:sp>
        <p:nvSpPr>
          <p:cNvPr id="7" name="Rounded Rectangle 6"/>
          <p:cNvSpPr/>
          <p:nvPr/>
        </p:nvSpPr>
        <p:spPr>
          <a:xfrm>
            <a:off x="4389120" y="1645920"/>
            <a:ext cx="329184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828800"/>
            <a:ext cx="2834640" cy="4206240"/>
          </a:xfrm>
          <a:prstGeom prst="rect">
            <a:avLst/>
          </a:prstGeom>
          <a:noFill/>
        </p:spPr>
        <p:txBody>
          <a:bodyPr wrap="square">
            <a:spAutoFit/>
          </a:bodyPr>
          <a:lstStyle/>
          <a:p>
            <a:pPr>
              <a:spcAft>
                <a:spcPts val="1000"/>
              </a:spcAft>
              <a:defRPr sz="1600" b="1">
                <a:solidFill>
                  <a:srgbClr val="FBBF24"/>
                </a:solidFill>
              </a:defRPr>
            </a:pPr>
            <a:r>
              <a:t>Content &amp; 4K Visuals</a:t>
            </a:r>
          </a:p>
          <a:p>
            <a:pPr>
              <a:spcAft>
                <a:spcPts val="600"/>
              </a:spcAft>
              <a:defRPr sz="1300">
                <a:solidFill>
                  <a:srgbClr val="F8FAFC"/>
                </a:solidFill>
              </a:defRPr>
            </a:pPr>
            <a:r>
              <a:t>• 1 Input -&gt; 5 Distinct Copies (Slide 8).</a:t>
            </a:r>
          </a:p>
          <a:p>
            <a:pPr>
              <a:spcAft>
                <a:spcPts val="600"/>
              </a:spcAft>
              <a:defRPr sz="1300">
                <a:solidFill>
                  <a:srgbClr val="F8FAFC"/>
                </a:solidFill>
              </a:defRPr>
            </a:pPr>
            <a:r>
              <a:t>• 4K Frosted Glassmorphism rendering.</a:t>
            </a:r>
          </a:p>
          <a:p>
            <a:pPr>
              <a:spcAft>
                <a:spcPts val="600"/>
              </a:spcAft>
              <a:defRPr sz="1300">
                <a:solidFill>
                  <a:srgbClr val="F8FAFC"/>
                </a:solidFill>
              </a:defRPr>
            </a:pPr>
            <a:r>
              <a:t>• TrueType scalable typography.</a:t>
            </a:r>
          </a:p>
          <a:p>
            <a:pPr>
              <a:spcAft>
                <a:spcPts val="600"/>
              </a:spcAft>
              <a:defRPr sz="1300">
                <a:solidFill>
                  <a:srgbClr val="F8FAFC"/>
                </a:solidFill>
              </a:defRPr>
            </a:pPr>
            <a:r>
              <a:t>• Custom signature watermark.</a:t>
            </a:r>
          </a:p>
        </p:txBody>
      </p:sp>
      <p:sp>
        <p:nvSpPr>
          <p:cNvPr id="9" name="Rounded Rectangle 8"/>
          <p:cNvSpPr/>
          <p:nvPr/>
        </p:nvSpPr>
        <p:spPr>
          <a:xfrm>
            <a:off x="8046720" y="1645920"/>
            <a:ext cx="329184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828800"/>
            <a:ext cx="2834640" cy="4206240"/>
          </a:xfrm>
          <a:prstGeom prst="rect">
            <a:avLst/>
          </a:prstGeom>
          <a:noFill/>
        </p:spPr>
        <p:txBody>
          <a:bodyPr wrap="square">
            <a:spAutoFit/>
          </a:bodyPr>
          <a:lstStyle/>
          <a:p>
            <a:pPr>
              <a:spcAft>
                <a:spcPts val="1000"/>
              </a:spcAft>
              <a:defRPr sz="1600" b="1">
                <a:solidFill>
                  <a:srgbClr val="A855F7"/>
                </a:solidFill>
              </a:defRPr>
            </a:pPr>
            <a:r>
              <a:t>Enterprise Security</a:t>
            </a:r>
          </a:p>
          <a:p>
            <a:pPr>
              <a:spcAft>
                <a:spcPts val="600"/>
              </a:spcAft>
              <a:defRPr sz="1300">
                <a:solidFill>
                  <a:srgbClr val="F8FAFC"/>
                </a:solidFill>
              </a:defRPr>
            </a:pPr>
            <a:r>
              <a:t>• AES-256-GCM token encryption at rest.</a:t>
            </a:r>
          </a:p>
          <a:p>
            <a:pPr>
              <a:spcAft>
                <a:spcPts val="600"/>
              </a:spcAft>
              <a:defRPr sz="1300">
                <a:solidFill>
                  <a:srgbClr val="F8FAFC"/>
                </a:solidFill>
              </a:defRPr>
            </a:pPr>
            <a:r>
              <a:t>• HttpOnly short-lived session cookies.</a:t>
            </a:r>
          </a:p>
          <a:p>
            <a:pPr>
              <a:spcAft>
                <a:spcPts val="600"/>
              </a:spcAft>
              <a:defRPr sz="1300">
                <a:solidFill>
                  <a:srgbClr val="F8FAFC"/>
                </a:solidFill>
              </a:defRPr>
            </a:pPr>
            <a:r>
              <a:t>• Refresh Token Rotation (Remember Me).</a:t>
            </a:r>
          </a:p>
          <a:p>
            <a:pPr>
              <a:spcAft>
                <a:spcPts val="600"/>
              </a:spcAft>
              <a:defRPr sz="1300">
                <a:solidFill>
                  <a:srgbClr val="F8FAFC"/>
                </a:solidFill>
              </a:defRPr>
            </a:pPr>
            <a:r>
              <a:t>• BOLA / IDOR strict authorization.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 SYSTEM ARCHITECTURE</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defRPr>
            </a:pPr>
            <a:r>
              <a:t>5-Tier High-Level System Architecture</a:t>
            </a:r>
          </a:p>
        </p:txBody>
      </p:sp>
      <p:sp>
        <p:nvSpPr>
          <p:cNvPr id="5" name="Rounded Rectangle 4"/>
          <p:cNvSpPr/>
          <p:nvPr/>
        </p:nvSpPr>
        <p:spPr>
          <a:xfrm>
            <a:off x="731520" y="1645920"/>
            <a:ext cx="1069848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10241280" cy="4206240"/>
          </a:xfrm>
          <a:prstGeom prst="rect">
            <a:avLst/>
          </a:prstGeom>
          <a:noFill/>
        </p:spPr>
        <p:txBody>
          <a:bodyPr wrap="square">
            <a:spAutoFit/>
          </a:bodyPr>
          <a:lstStyle/>
          <a:p>
            <a:pPr>
              <a:spcAft>
                <a:spcPts val="1000"/>
              </a:spcAft>
              <a:defRPr sz="1600" b="1">
                <a:solidFill>
                  <a:srgbClr val="38BDF8"/>
                </a:solidFill>
              </a:defRPr>
            </a:pPr>
            <a:r>
              <a:t>End-to-End Orchestration Pipeline</a:t>
            </a:r>
          </a:p>
          <a:p>
            <a:pPr>
              <a:spcAft>
                <a:spcPts val="600"/>
              </a:spcAft>
              <a:defRPr sz="1300">
                <a:solidFill>
                  <a:srgbClr val="F8FAFC"/>
                </a:solidFill>
              </a:defRPr>
            </a:pPr>
            <a:r>
              <a:t>• Tier 1 (Client Layer): Streamlit Interactive Omni-Studio + React 18 / Tailwind SaaS Dashboard.</a:t>
            </a:r>
          </a:p>
          <a:p>
            <a:pPr>
              <a:spcAft>
                <a:spcPts val="600"/>
              </a:spcAft>
              <a:defRPr sz="1300">
                <a:solidFill>
                  <a:srgbClr val="F8FAFC"/>
                </a:solidFill>
              </a:defRPr>
            </a:pPr>
            <a:r>
              <a:t>• Tier 2 (Gateway &amp; Security): FastAPI with CSP headers, sliding-window rate limiters, and HttpOnly cookies.</a:t>
            </a:r>
          </a:p>
          <a:p>
            <a:pPr>
              <a:spcAft>
                <a:spcPts val="600"/>
              </a:spcAft>
              <a:defRPr sz="1300">
                <a:solidFill>
                  <a:srgbClr val="F8FAFC"/>
                </a:solidFill>
              </a:defRPr>
            </a:pPr>
            <a:r>
              <a:t>• Tier 3 (Cognitive AI Core): Goal Manager, AI Planner (Llama 3.2 / Gemini), and Platform Content Adapter.</a:t>
            </a:r>
          </a:p>
          <a:p>
            <a:pPr>
              <a:spcAft>
                <a:spcPts val="600"/>
              </a:spcAft>
              <a:defRPr sz="1300">
                <a:solidFill>
                  <a:srgbClr val="F8FAFC"/>
                </a:solidFill>
              </a:defRPr>
            </a:pPr>
            <a:r>
              <a:t>• Tier 4 (Visual Engine &amp; CDN): Pillow 4K Frosted Glass Renderer + Catbox / TmpFiles Multi-CDN uploader.</a:t>
            </a:r>
          </a:p>
          <a:p>
            <a:pPr>
              <a:spcAft>
                <a:spcPts val="600"/>
              </a:spcAft>
              <a:defRPr sz="1300">
                <a:solidFill>
                  <a:srgbClr val="F8FAFC"/>
                </a:solidFill>
              </a:defRPr>
            </a:pPr>
            <a:r>
              <a:t>• Tier 5 (Data &amp; Security Tier): SQLite with UUID session isolation + AES-256-GCM encrypted credentials.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 PPT SLIDES 7, 9, 14 ALIGNMENT</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defRPr>
            </a:pPr>
            <a:r>
              <a:t>Agentic AI Cognitive Core (8 Modules)</a:t>
            </a:r>
          </a:p>
        </p:txBody>
      </p:sp>
      <p:sp>
        <p:nvSpPr>
          <p:cNvPr id="5" name="Rounded Rectangle 4"/>
          <p:cNvSpPr/>
          <p:nvPr/>
        </p:nvSpPr>
        <p:spPr>
          <a:xfrm>
            <a:off x="731520" y="1645920"/>
            <a:ext cx="512064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4206240"/>
          </a:xfrm>
          <a:prstGeom prst="rect">
            <a:avLst/>
          </a:prstGeom>
          <a:noFill/>
        </p:spPr>
        <p:txBody>
          <a:bodyPr wrap="square">
            <a:spAutoFit/>
          </a:bodyPr>
          <a:lstStyle/>
          <a:p>
            <a:pPr>
              <a:spcAft>
                <a:spcPts val="1000"/>
              </a:spcAft>
              <a:defRPr sz="1600" b="1">
                <a:solidFill>
                  <a:srgbClr val="FBBF24"/>
                </a:solidFill>
              </a:defRPr>
            </a:pPr>
            <a:r>
              <a:t>Perception &amp; Planning Modules</a:t>
            </a:r>
          </a:p>
          <a:p>
            <a:pPr>
              <a:spcAft>
                <a:spcPts val="600"/>
              </a:spcAft>
              <a:defRPr sz="1300">
                <a:solidFill>
                  <a:srgbClr val="F8FAFC"/>
                </a:solidFill>
              </a:defRPr>
            </a:pPr>
            <a:r>
              <a:t>• Module 1 (Goal Manager): Theme classification &amp; intent extraction.</a:t>
            </a:r>
          </a:p>
          <a:p>
            <a:pPr>
              <a:spcAft>
                <a:spcPts val="600"/>
              </a:spcAft>
              <a:defRPr sz="1300">
                <a:solidFill>
                  <a:srgbClr val="F8FAFC"/>
                </a:solidFill>
              </a:defRPr>
            </a:pPr>
            <a:r>
              <a:t>• Module 2 (AI Planner): Task decomposition into 4 steps.</a:t>
            </a:r>
          </a:p>
          <a:p>
            <a:pPr>
              <a:spcAft>
                <a:spcPts val="600"/>
              </a:spcAft>
              <a:defRPr sz="1300">
                <a:solidFill>
                  <a:srgbClr val="F8FAFC"/>
                </a:solidFill>
              </a:defRPr>
            </a:pPr>
            <a:r>
              <a:t>• Module 3 (Content Adapter): Platform-specific copy generation.</a:t>
            </a:r>
          </a:p>
          <a:p>
            <a:pPr>
              <a:spcAft>
                <a:spcPts val="600"/>
              </a:spcAft>
              <a:defRPr sz="1300">
                <a:solidFill>
                  <a:srgbClr val="F8FAFC"/>
                </a:solidFill>
              </a:defRPr>
            </a:pPr>
            <a:r>
              <a:t>• Module 4 (Tool Selector): Automatic credentials &amp; protocol selection.</a:t>
            </a:r>
          </a:p>
        </p:txBody>
      </p:sp>
      <p:sp>
        <p:nvSpPr>
          <p:cNvPr id="7" name="Rounded Rectangle 6"/>
          <p:cNvSpPr/>
          <p:nvPr/>
        </p:nvSpPr>
        <p:spPr>
          <a:xfrm>
            <a:off x="6217920" y="1645920"/>
            <a:ext cx="512064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663440" cy="4206240"/>
          </a:xfrm>
          <a:prstGeom prst="rect">
            <a:avLst/>
          </a:prstGeom>
          <a:noFill/>
        </p:spPr>
        <p:txBody>
          <a:bodyPr wrap="square">
            <a:spAutoFit/>
          </a:bodyPr>
          <a:lstStyle/>
          <a:p>
            <a:pPr>
              <a:spcAft>
                <a:spcPts val="1000"/>
              </a:spcAft>
              <a:defRPr sz="1600" b="1">
                <a:solidFill>
                  <a:srgbClr val="A855F7"/>
                </a:solidFill>
              </a:defRPr>
            </a:pPr>
            <a:r>
              <a:t>Execution &amp; Recovery Modules</a:t>
            </a:r>
          </a:p>
          <a:p>
            <a:pPr>
              <a:spcAft>
                <a:spcPts val="600"/>
              </a:spcAft>
              <a:defRPr sz="1300">
                <a:solidFill>
                  <a:srgbClr val="F8FAFC"/>
                </a:solidFill>
              </a:defRPr>
            </a:pPr>
            <a:r>
              <a:t>• Module 5 (Execution Engine): Parallel multi-destination dispatchers.</a:t>
            </a:r>
          </a:p>
          <a:p>
            <a:pPr>
              <a:spcAft>
                <a:spcPts val="600"/>
              </a:spcAft>
              <a:defRPr sz="1300">
                <a:solidFill>
                  <a:srgbClr val="F8FAFC"/>
                </a:solidFill>
              </a:defRPr>
            </a:pPr>
            <a:r>
              <a:t>• Module 6 (Evaluation Engine): Partial-success resilience tracking.</a:t>
            </a:r>
          </a:p>
          <a:p>
            <a:pPr>
              <a:spcAft>
                <a:spcPts val="600"/>
              </a:spcAft>
              <a:defRPr sz="1300">
                <a:solidFill>
                  <a:srgbClr val="F8FAFC"/>
                </a:solidFill>
              </a:defRPr>
            </a:pPr>
            <a:r>
              <a:t>• Module 7 (Memory System): Session-isolated SQLite persistence.</a:t>
            </a:r>
          </a:p>
          <a:p>
            <a:pPr>
              <a:spcAft>
                <a:spcPts val="600"/>
              </a:spcAft>
              <a:defRPr sz="1300">
                <a:solidFill>
                  <a:srgbClr val="F8FAFC"/>
                </a:solidFill>
              </a:defRPr>
            </a:pPr>
            <a:r>
              <a:t>• Module 8 (Autonomous Fallback): API failure to 1-Tap Intent failover.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 MODULE 1 &amp; 2 DEEP DIVE</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defRPr>
            </a:pPr>
            <a:r>
              <a:t>Goal Understanding &amp; Sequential Planning</a:t>
            </a:r>
          </a:p>
        </p:txBody>
      </p:sp>
      <p:sp>
        <p:nvSpPr>
          <p:cNvPr id="5" name="Rounded Rectangle 4"/>
          <p:cNvSpPr/>
          <p:nvPr/>
        </p:nvSpPr>
        <p:spPr>
          <a:xfrm>
            <a:off x="731520" y="1645920"/>
            <a:ext cx="1069848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10241280" cy="4206240"/>
          </a:xfrm>
          <a:prstGeom prst="rect">
            <a:avLst/>
          </a:prstGeom>
          <a:noFill/>
        </p:spPr>
        <p:txBody>
          <a:bodyPr wrap="square">
            <a:spAutoFit/>
          </a:bodyPr>
          <a:lstStyle/>
          <a:p>
            <a:pPr>
              <a:spcAft>
                <a:spcPts val="1000"/>
              </a:spcAft>
              <a:defRPr sz="1600" b="1">
                <a:solidFill>
                  <a:srgbClr val="38BDF8"/>
                </a:solidFill>
              </a:defRPr>
            </a:pPr>
            <a:r>
              <a:t>Deterministic + Neural Hybrid Planning</a:t>
            </a:r>
          </a:p>
          <a:p>
            <a:pPr>
              <a:spcAft>
                <a:spcPts val="600"/>
              </a:spcAft>
              <a:defRPr sz="1300">
                <a:solidFill>
                  <a:srgbClr val="F8FAFC"/>
                </a:solidFill>
              </a:defRPr>
            </a:pPr>
            <a:r>
              <a:t>• 1. Intent Analysis: Detects themes like 'Success', 'Innovation', 'Mindset' from user prompt.</a:t>
            </a:r>
          </a:p>
          <a:p>
            <a:pPr>
              <a:spcAft>
                <a:spcPts val="600"/>
              </a:spcAft>
              <a:defRPr sz="1300">
                <a:solidFill>
                  <a:srgbClr val="F8FAFC"/>
                </a:solidFill>
              </a:defRPr>
            </a:pPr>
            <a:r>
              <a:t>• 2. Step 1 (Theme &amp; Context): Extracts key takeaways and hashtags suitable for the tone.</a:t>
            </a:r>
          </a:p>
          <a:p>
            <a:pPr>
              <a:spcAft>
                <a:spcPts val="600"/>
              </a:spcAft>
              <a:defRPr sz="1300">
                <a:solidFill>
                  <a:srgbClr val="F8FAFC"/>
                </a:solidFill>
              </a:defRPr>
            </a:pPr>
            <a:r>
              <a:t>• 3. Step 2 (Visual Asset Generation): Renders 4K aesthetic background canvas with signature.</a:t>
            </a:r>
          </a:p>
          <a:p>
            <a:pPr>
              <a:spcAft>
                <a:spcPts val="600"/>
              </a:spcAft>
              <a:defRPr sz="1300">
                <a:solidFill>
                  <a:srgbClr val="F8FAFC"/>
                </a:solidFill>
              </a:defRPr>
            </a:pPr>
            <a:r>
              <a:t>• 4. Step 3 (Copy Adaptation): Formulates 5 distinct copywriting variations tailored to each network.</a:t>
            </a:r>
          </a:p>
          <a:p>
            <a:pPr>
              <a:spcAft>
                <a:spcPts val="600"/>
              </a:spcAft>
              <a:defRPr sz="1300">
                <a:solidFill>
                  <a:srgbClr val="F8FAFC"/>
                </a:solidFill>
              </a:defRPr>
            </a:pPr>
            <a:r>
              <a:t>• 5. Step 4 (Multi-Channel Dispatch): Broadcasts to active channels with individual confirmation.</a:t>
            </a:r>
          </a:p>
          <a:p>
            <a:pPr>
              <a:spcAft>
                <a:spcPts val="600"/>
              </a:spcAft>
              <a:defRPr sz="1300">
                <a:solidFill>
                  <a:srgbClr val="F8FAFC"/>
                </a:solidFill>
              </a:defRPr>
            </a:pPr>
            <a:r>
              <a:t>• 6. Offline Resilience: If local LLM (Ollama) is unavailable, deterministic expert heuristics take over instantly.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 1 INPUT -&gt; 5 PLATFORM COPIES</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defRPr>
            </a:pPr>
            <a:r>
              <a:t>Multi-Platform Content Adaptation (Slide 8)</a:t>
            </a:r>
          </a:p>
        </p:txBody>
      </p:sp>
      <p:sp>
        <p:nvSpPr>
          <p:cNvPr id="5" name="Rounded Rectangle 4"/>
          <p:cNvSpPr/>
          <p:nvPr/>
        </p:nvSpPr>
        <p:spPr>
          <a:xfrm>
            <a:off x="731520" y="1645920"/>
            <a:ext cx="512064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4206240"/>
          </a:xfrm>
          <a:prstGeom prst="rect">
            <a:avLst/>
          </a:prstGeom>
          <a:noFill/>
        </p:spPr>
        <p:txBody>
          <a:bodyPr wrap="square">
            <a:spAutoFit/>
          </a:bodyPr>
          <a:lstStyle/>
          <a:p>
            <a:pPr>
              <a:spcAft>
                <a:spcPts val="1000"/>
              </a:spcAft>
              <a:defRPr sz="1600" b="1">
                <a:solidFill>
                  <a:srgbClr val="FBBF24"/>
                </a:solidFill>
              </a:defRPr>
            </a:pPr>
            <a:r>
              <a:t>Visual &amp; Mobile Networks</a:t>
            </a:r>
          </a:p>
          <a:p>
            <a:pPr>
              <a:spcAft>
                <a:spcPts val="600"/>
              </a:spcAft>
              <a:defRPr sz="1300">
                <a:solidFill>
                  <a:srgbClr val="F8FAFC"/>
                </a:solidFill>
              </a:defRPr>
            </a:pPr>
            <a:r>
              <a:t>• 📸 Instagram: High aesthetic visual appeal + 15 curated lifestyle hashtags (#MindsetMatters, #DailyInspiration).</a:t>
            </a:r>
          </a:p>
          <a:p>
            <a:pPr>
              <a:spcAft>
                <a:spcPts val="600"/>
              </a:spcAft>
              <a:defRPr sz="1300">
                <a:solidFill>
                  <a:srgbClr val="F8FAFC"/>
                </a:solidFill>
              </a:defRPr>
            </a:pPr>
            <a:r>
              <a:t>• 💬 WhatsApp: Clean markdown (*Bold*, _Italics_) + inspiring message + direct 4K media link.</a:t>
            </a:r>
          </a:p>
          <a:p>
            <a:pPr>
              <a:spcAft>
                <a:spcPts val="600"/>
              </a:spcAft>
              <a:defRPr sz="1300">
                <a:solidFill>
                  <a:srgbClr val="F8FAFC"/>
                </a:solidFill>
              </a:defRPr>
            </a:pPr>
            <a:r>
              <a:t>• 🐦 X (Twitter): Crisp viral tweet strictly capped under 280 characters with relevant hashtags.</a:t>
            </a:r>
          </a:p>
        </p:txBody>
      </p:sp>
      <p:sp>
        <p:nvSpPr>
          <p:cNvPr id="7" name="Rounded Rectangle 6"/>
          <p:cNvSpPr/>
          <p:nvPr/>
        </p:nvSpPr>
        <p:spPr>
          <a:xfrm>
            <a:off x="6217920" y="1645920"/>
            <a:ext cx="512064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663440" cy="4206240"/>
          </a:xfrm>
          <a:prstGeom prst="rect">
            <a:avLst/>
          </a:prstGeom>
          <a:noFill/>
        </p:spPr>
        <p:txBody>
          <a:bodyPr wrap="square">
            <a:spAutoFit/>
          </a:bodyPr>
          <a:lstStyle/>
          <a:p>
            <a:pPr>
              <a:spcAft>
                <a:spcPts val="1000"/>
              </a:spcAft>
              <a:defRPr sz="1600" b="1">
                <a:solidFill>
                  <a:srgbClr val="A855F7"/>
                </a:solidFill>
              </a:defRPr>
            </a:pPr>
            <a:r>
              <a:t>Professional &amp; Social Networks</a:t>
            </a:r>
          </a:p>
          <a:p>
            <a:pPr>
              <a:spcAft>
                <a:spcPts val="600"/>
              </a:spcAft>
              <a:defRPr sz="1300">
                <a:solidFill>
                  <a:srgbClr val="F8FAFC"/>
                </a:solidFill>
              </a:defRPr>
            </a:pPr>
            <a:r>
              <a:t>• 💼 LinkedIn: Formal executive structure, key takeaway bullet points, leadership hashtags (#Leadership, #Growth).</a:t>
            </a:r>
          </a:p>
          <a:p>
            <a:pPr>
              <a:spcAft>
                <a:spcPts val="600"/>
              </a:spcAft>
              <a:defRPr sz="1300">
                <a:solidFill>
                  <a:srgbClr val="F8FAFC"/>
                </a:solidFill>
              </a:defRPr>
            </a:pPr>
            <a:r>
              <a:t>• 📘 Facebook: Community engagement questions ('What are your thoughts on this?') with discussion prompts.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 PILLOW RENDERING ENGINE</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defRPr>
            </a:pPr>
            <a:r>
              <a:t>4K Visual Generation &amp; Glassmorphism</a:t>
            </a:r>
          </a:p>
        </p:txBody>
      </p:sp>
      <p:sp>
        <p:nvSpPr>
          <p:cNvPr id="5" name="Rounded Rectangle 4"/>
          <p:cNvSpPr/>
          <p:nvPr/>
        </p:nvSpPr>
        <p:spPr>
          <a:xfrm>
            <a:off x="731520" y="1645920"/>
            <a:ext cx="1069848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10241280" cy="4206240"/>
          </a:xfrm>
          <a:prstGeom prst="rect">
            <a:avLst/>
          </a:prstGeom>
          <a:noFill/>
        </p:spPr>
        <p:txBody>
          <a:bodyPr wrap="square">
            <a:spAutoFit/>
          </a:bodyPr>
          <a:lstStyle/>
          <a:p>
            <a:pPr>
              <a:spcAft>
                <a:spcPts val="1000"/>
              </a:spcAft>
              <a:defRPr sz="1600" b="1">
                <a:solidFill>
                  <a:srgbClr val="38BDF8"/>
                </a:solidFill>
              </a:defRPr>
            </a:pPr>
            <a:r>
              <a:t>Programmatic Aesthetic Canvas Construction</a:t>
            </a:r>
          </a:p>
          <a:p>
            <a:pPr>
              <a:spcAft>
                <a:spcPts val="600"/>
              </a:spcAft>
              <a:defRPr sz="1300">
                <a:solidFill>
                  <a:srgbClr val="F8FAFC"/>
                </a:solidFill>
              </a:defRPr>
            </a:pPr>
            <a:r>
              <a:t>• Dimensions: 1080x1920 (9:16 Story format) &amp; 1080x1080 (1:1 Feed format).</a:t>
            </a:r>
          </a:p>
          <a:p>
            <a:pPr>
              <a:spcAft>
                <a:spcPts val="600"/>
              </a:spcAft>
              <a:defRPr sz="1300">
                <a:solidFill>
                  <a:srgbClr val="F8FAFC"/>
                </a:solidFill>
              </a:defRPr>
            </a:pPr>
            <a:r>
              <a:t>• Layer 1 (Background): High-resolution curated nature wallpapers (Galaxy, Mountain, Sunset).</a:t>
            </a:r>
          </a:p>
          <a:p>
            <a:pPr>
              <a:spcAft>
                <a:spcPts val="600"/>
              </a:spcAft>
              <a:defRPr sz="1300">
                <a:solidFill>
                  <a:srgbClr val="F8FAFC"/>
                </a:solidFill>
              </a:defRPr>
            </a:pPr>
            <a:r>
              <a:t>• Layer 2 (Frosted Glass Card): Semi-transparent RGBA dark card (15, 23, 42, 205) with 36px rounded corners.</a:t>
            </a:r>
          </a:p>
          <a:p>
            <a:pPr>
              <a:spcAft>
                <a:spcPts val="600"/>
              </a:spcAft>
              <a:defRPr sz="1300">
                <a:solidFill>
                  <a:srgbClr val="F8FAFC"/>
                </a:solidFill>
              </a:defRPr>
            </a:pPr>
            <a:r>
              <a:t>• Layer 3 (Typography): Scalable TrueType font rendering with dynamic line wrapping and anchor centering.</a:t>
            </a:r>
          </a:p>
          <a:p>
            <a:pPr>
              <a:spcAft>
                <a:spcPts val="600"/>
              </a:spcAft>
              <a:defRPr sz="1300">
                <a:solidFill>
                  <a:srgbClr val="F8FAFC"/>
                </a:solidFill>
              </a:defRPr>
            </a:pPr>
            <a:r>
              <a:t>• Layer 4 (Watermark Signature): Golden accent (-- Signature Name) embedded cleanly at the bottom.</a:t>
            </a:r>
          </a:p>
          <a:p>
            <a:pPr>
              <a:spcAft>
                <a:spcPts val="600"/>
              </a:spcAft>
              <a:defRPr sz="1300">
                <a:solidFill>
                  <a:srgbClr val="F8FAFC"/>
                </a:solidFill>
              </a:defRPr>
            </a:pPr>
            <a:r>
              <a:t>• Performance: Complete 4K render in under 0.78 seconds with 95% JPEG/PNG compression quality.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 PUBLIC MEDIA URL GENERATION</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defRPr>
            </a:pPr>
            <a:r>
              <a:t>High-Speed Multi-CDN Asset Pipeline</a:t>
            </a:r>
          </a:p>
        </p:txBody>
      </p:sp>
      <p:sp>
        <p:nvSpPr>
          <p:cNvPr id="5" name="Rounded Rectangle 4"/>
          <p:cNvSpPr/>
          <p:nvPr/>
        </p:nvSpPr>
        <p:spPr>
          <a:xfrm>
            <a:off x="731520" y="1645920"/>
            <a:ext cx="1069848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10241280" cy="4206240"/>
          </a:xfrm>
          <a:prstGeom prst="rect">
            <a:avLst/>
          </a:prstGeom>
          <a:noFill/>
        </p:spPr>
        <p:txBody>
          <a:bodyPr wrap="square">
            <a:spAutoFit/>
          </a:bodyPr>
          <a:lstStyle/>
          <a:p>
            <a:pPr>
              <a:spcAft>
                <a:spcPts val="1000"/>
              </a:spcAft>
              <a:defRPr sz="1600" b="1">
                <a:solidFill>
                  <a:srgbClr val="FBBF24"/>
                </a:solidFill>
              </a:defRPr>
            </a:pPr>
            <a:r>
              <a:t>Automated High-Availability Upload</a:t>
            </a:r>
          </a:p>
          <a:p>
            <a:pPr>
              <a:spcAft>
                <a:spcPts val="600"/>
              </a:spcAft>
              <a:defRPr sz="1300">
                <a:solidFill>
                  <a:srgbClr val="F8FAFC"/>
                </a:solidFill>
              </a:defRPr>
            </a:pPr>
            <a:r>
              <a:t>• Problem: Meta Graph API &amp; LinkedIn API reject local C:\ file paths; they require publicly accessible HTTPS URLs.</a:t>
            </a:r>
          </a:p>
          <a:p>
            <a:pPr>
              <a:spcAft>
                <a:spcPts val="600"/>
              </a:spcAft>
              <a:defRPr sz="1300">
                <a:solidFill>
                  <a:srgbClr val="F8FAFC"/>
                </a:solidFill>
              </a:defRPr>
            </a:pPr>
            <a:r>
              <a:t>• Primary Server: Catbox.moe High-Speed File API with automated file multipart upload.</a:t>
            </a:r>
          </a:p>
          <a:p>
            <a:pPr>
              <a:spcAft>
                <a:spcPts val="600"/>
              </a:spcAft>
              <a:defRPr sz="1300">
                <a:solidFill>
                  <a:srgbClr val="F8FAFC"/>
                </a:solidFill>
              </a:defRPr>
            </a:pPr>
            <a:r>
              <a:t>• Secondary Server: TmpFiles Backup CDN activated automatically if Primary fails.</a:t>
            </a:r>
          </a:p>
          <a:p>
            <a:pPr>
              <a:spcAft>
                <a:spcPts val="600"/>
              </a:spcAft>
              <a:defRPr sz="1300">
                <a:solidFill>
                  <a:srgbClr val="F8FAFC"/>
                </a:solidFill>
              </a:defRPr>
            </a:pPr>
            <a:r>
              <a:t>• Timeout Protection: 30-second timeout guard with automatic retry mechanism.</a:t>
            </a:r>
          </a:p>
          <a:p>
            <a:pPr>
              <a:spcAft>
                <a:spcPts val="600"/>
              </a:spcAft>
              <a:defRPr sz="1300">
                <a:solidFill>
                  <a:srgbClr val="F8FAFC"/>
                </a:solidFill>
              </a:defRPr>
            </a:pPr>
            <a:r>
              <a:t>• Result: Generates permanent, public HTTPS URLs (e.g. https://files.catbox.moe/abc123.png) in ~1.2 seconds.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 ZERO-TOKEN VS OAUTH API</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defRPr>
            </a:pPr>
            <a:r>
              <a:t>Dual-Mode Dispatch Architecture</a:t>
            </a:r>
          </a:p>
        </p:txBody>
      </p:sp>
      <p:sp>
        <p:nvSpPr>
          <p:cNvPr id="5" name="Rounded Rectangle 4"/>
          <p:cNvSpPr/>
          <p:nvPr/>
        </p:nvSpPr>
        <p:spPr>
          <a:xfrm>
            <a:off x="731520" y="1645920"/>
            <a:ext cx="512064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4206240"/>
          </a:xfrm>
          <a:prstGeom prst="rect">
            <a:avLst/>
          </a:prstGeom>
          <a:noFill/>
        </p:spPr>
        <p:txBody>
          <a:bodyPr wrap="square">
            <a:spAutoFit/>
          </a:bodyPr>
          <a:lstStyle/>
          <a:p>
            <a:pPr>
              <a:spcAft>
                <a:spcPts val="1000"/>
              </a:spcAft>
              <a:defRPr sz="1600" b="1">
                <a:solidFill>
                  <a:srgbClr val="38BDF8"/>
                </a:solidFill>
              </a:defRPr>
            </a:pPr>
            <a:r>
              <a:t>Mode 1: Normal Users (Zero-Token)</a:t>
            </a:r>
          </a:p>
          <a:p>
            <a:pPr>
              <a:spcAft>
                <a:spcPts val="600"/>
              </a:spcAft>
              <a:defRPr sz="1300">
                <a:solidFill>
                  <a:srgbClr val="F8FAFC"/>
                </a:solidFill>
              </a:defRPr>
            </a:pPr>
            <a:r>
              <a:t>• 1-Tap Native Mobile Share Sheet (navigator.share).</a:t>
            </a:r>
          </a:p>
          <a:p>
            <a:pPr>
              <a:spcAft>
                <a:spcPts val="600"/>
              </a:spcAft>
              <a:defRPr sz="1300">
                <a:solidFill>
                  <a:srgbClr val="F8FAFC"/>
                </a:solidFill>
              </a:defRPr>
            </a:pPr>
            <a:r>
              <a:t>• WhatsApp Click-to-Chat URI Intent (wa.me).</a:t>
            </a:r>
          </a:p>
          <a:p>
            <a:pPr>
              <a:spcAft>
                <a:spcPts val="600"/>
              </a:spcAft>
              <a:defRPr sz="1300">
                <a:solidFill>
                  <a:srgbClr val="F8FAFC"/>
                </a:solidFill>
              </a:defRPr>
            </a:pPr>
            <a:r>
              <a:t>• Twitter/X 1-Click Tweet Intent.</a:t>
            </a:r>
          </a:p>
          <a:p>
            <a:pPr>
              <a:spcAft>
                <a:spcPts val="600"/>
              </a:spcAft>
              <a:defRPr sz="1300">
                <a:solidFill>
                  <a:srgbClr val="F8FAFC"/>
                </a:solidFill>
              </a:defRPr>
            </a:pPr>
            <a:r>
              <a:t>• Facebook Timeline Sharer Intent.</a:t>
            </a:r>
          </a:p>
          <a:p>
            <a:pPr>
              <a:spcAft>
                <a:spcPts val="600"/>
              </a:spcAft>
              <a:defRPr sz="1300">
                <a:solidFill>
                  <a:srgbClr val="F8FAFC"/>
                </a:solidFill>
              </a:defRPr>
            </a:pPr>
            <a:r>
              <a:t>• 0% developer tokens, 0% passwords, 0% ban risk.</a:t>
            </a:r>
          </a:p>
        </p:txBody>
      </p:sp>
      <p:sp>
        <p:nvSpPr>
          <p:cNvPr id="7" name="Rounded Rectangle 6"/>
          <p:cNvSpPr/>
          <p:nvPr/>
        </p:nvSpPr>
        <p:spPr>
          <a:xfrm>
            <a:off x="6217920" y="1645920"/>
            <a:ext cx="512064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663440" cy="4206240"/>
          </a:xfrm>
          <a:prstGeom prst="rect">
            <a:avLst/>
          </a:prstGeom>
          <a:noFill/>
        </p:spPr>
        <p:txBody>
          <a:bodyPr wrap="square">
            <a:spAutoFit/>
          </a:bodyPr>
          <a:lstStyle/>
          <a:p>
            <a:pPr>
              <a:spcAft>
                <a:spcPts val="1000"/>
              </a:spcAft>
              <a:defRPr sz="1600" b="1">
                <a:solidFill>
                  <a:srgbClr val="A855F7"/>
                </a:solidFill>
              </a:defRPr>
            </a:pPr>
            <a:r>
              <a:t>Mode 2: Pro Creators (OAuth API)</a:t>
            </a:r>
          </a:p>
          <a:p>
            <a:pPr>
              <a:spcAft>
                <a:spcPts val="600"/>
              </a:spcAft>
              <a:defRPr sz="1300">
                <a:solidFill>
                  <a:srgbClr val="F8FAFC"/>
                </a:solidFill>
              </a:defRPr>
            </a:pPr>
            <a:r>
              <a:t>• Meta Graph API v21 Direct Container Publishing.</a:t>
            </a:r>
          </a:p>
          <a:p>
            <a:pPr>
              <a:spcAft>
                <a:spcPts val="600"/>
              </a:spcAft>
              <a:defRPr sz="1300">
                <a:solidFill>
                  <a:srgbClr val="F8FAFC"/>
                </a:solidFill>
              </a:defRPr>
            </a:pPr>
            <a:r>
              <a:t>• LinkedIn REST API v2 UGC Post Publishing.</a:t>
            </a:r>
          </a:p>
          <a:p>
            <a:pPr>
              <a:spcAft>
                <a:spcPts val="600"/>
              </a:spcAft>
              <a:defRPr sz="1300">
                <a:solidFill>
                  <a:srgbClr val="F8FAFC"/>
                </a:solidFill>
              </a:defRPr>
            </a:pPr>
            <a:r>
              <a:t>• Automatic background broadcast without opening apps.</a:t>
            </a:r>
          </a:p>
          <a:p>
            <a:pPr>
              <a:spcAft>
                <a:spcPts val="600"/>
              </a:spcAft>
              <a:defRPr sz="1300">
                <a:solidFill>
                  <a:srgbClr val="F8FAFC"/>
                </a:solidFill>
              </a:defRPr>
            </a:pPr>
            <a:r>
              <a:t>• Partial-Success Engine (1 failure doesn't block others).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 TOKEN ENCRYPTION AT REST</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defRPr>
            </a:pPr>
            <a:r>
              <a:t>Enterprise Security — AES-256-GCM Encryption</a:t>
            </a:r>
          </a:p>
        </p:txBody>
      </p:sp>
      <p:sp>
        <p:nvSpPr>
          <p:cNvPr id="5" name="Rounded Rectangle 4"/>
          <p:cNvSpPr/>
          <p:nvPr/>
        </p:nvSpPr>
        <p:spPr>
          <a:xfrm>
            <a:off x="731520" y="1645920"/>
            <a:ext cx="1069848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10241280" cy="4206240"/>
          </a:xfrm>
          <a:prstGeom prst="rect">
            <a:avLst/>
          </a:prstGeom>
          <a:noFill/>
        </p:spPr>
        <p:txBody>
          <a:bodyPr wrap="square">
            <a:spAutoFit/>
          </a:bodyPr>
          <a:lstStyle/>
          <a:p>
            <a:pPr>
              <a:spcAft>
                <a:spcPts val="1000"/>
              </a:spcAft>
              <a:defRPr sz="1600" b="1">
                <a:solidFill>
                  <a:srgbClr val="FBBF24"/>
                </a:solidFill>
              </a:defRPr>
            </a:pPr>
            <a:r>
              <a:t>Authenticated Encryption with Associated Data (AEAD)</a:t>
            </a:r>
          </a:p>
          <a:p>
            <a:pPr>
              <a:spcAft>
                <a:spcPts val="600"/>
              </a:spcAft>
              <a:defRPr sz="1300">
                <a:solidFill>
                  <a:srgbClr val="F8FAFC"/>
                </a:solidFill>
              </a:defRPr>
            </a:pPr>
            <a:r>
              <a:t>• Cipher: AES-256 in Galois/Counter Mode (GCM) via cryptography.hazmat library.</a:t>
            </a:r>
          </a:p>
          <a:p>
            <a:pPr>
              <a:spcAft>
                <a:spcPts val="600"/>
              </a:spcAft>
              <a:defRPr sz="1300">
                <a:solidFill>
                  <a:srgbClr val="F8FAFC"/>
                </a:solidFill>
              </a:defRPr>
            </a:pPr>
            <a:r>
              <a:t>• Cryptographic Nonce: 12-byte cryptographically secure random IV generated per token.</a:t>
            </a:r>
          </a:p>
          <a:p>
            <a:pPr>
              <a:spcAft>
                <a:spcPts val="600"/>
              </a:spcAft>
              <a:defRPr sz="1300">
                <a:solidFill>
                  <a:srgbClr val="F8FAFC"/>
                </a:solidFill>
              </a:defRPr>
            </a:pPr>
            <a:r>
              <a:t>• Storage Format: aes_gcm:v1:&lt;nonce_hex&gt;:&lt;ciphertext_and_tag_hex&gt;.</a:t>
            </a:r>
          </a:p>
          <a:p>
            <a:pPr>
              <a:spcAft>
                <a:spcPts val="600"/>
              </a:spcAft>
              <a:defRPr sz="1300">
                <a:solidFill>
                  <a:srgbClr val="F8FAFC"/>
                </a:solidFill>
              </a:defRPr>
            </a:pPr>
            <a:r>
              <a:t>• Integrity Verification: 16-byte authentication tag prevents bit-flipping and padding oracle attacks.</a:t>
            </a:r>
          </a:p>
          <a:p>
            <a:pPr>
              <a:spcAft>
                <a:spcPts val="600"/>
              </a:spcAft>
              <a:defRPr sz="1300">
                <a:solidFill>
                  <a:srgbClr val="F8FAFC"/>
                </a:solidFill>
              </a:defRPr>
            </a:pPr>
            <a:r>
              <a:t>• Key Management: 256-bit master key derived via SHA-256 from secure environment variable.</a:t>
            </a:r>
          </a:p>
          <a:p>
            <a:pPr>
              <a:spcAft>
                <a:spcPts val="600"/>
              </a:spcAft>
              <a:defRPr sz="1300">
                <a:solidFill>
                  <a:srgbClr val="F8FAFC"/>
                </a:solidFill>
              </a:defRPr>
            </a:pPr>
            <a:r>
              <a:t>• Zero Plaintext Guarantee: Database contains 0 unencrypted OAuth tokens.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 SESSION MANAGEMENT</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defRPr>
            </a:pPr>
            <a:r>
              <a:t>Authentication &amp; Refresh Token Rotation</a:t>
            </a:r>
          </a:p>
        </p:txBody>
      </p:sp>
      <p:sp>
        <p:nvSpPr>
          <p:cNvPr id="5" name="Rounded Rectangle 4"/>
          <p:cNvSpPr/>
          <p:nvPr/>
        </p:nvSpPr>
        <p:spPr>
          <a:xfrm>
            <a:off x="731520" y="1645920"/>
            <a:ext cx="512064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4206240"/>
          </a:xfrm>
          <a:prstGeom prst="rect">
            <a:avLst/>
          </a:prstGeom>
          <a:noFill/>
        </p:spPr>
        <p:txBody>
          <a:bodyPr wrap="square">
            <a:spAutoFit/>
          </a:bodyPr>
          <a:lstStyle/>
          <a:p>
            <a:pPr>
              <a:spcAft>
                <a:spcPts val="1000"/>
              </a:spcAft>
              <a:defRPr sz="1600" b="1">
                <a:solidFill>
                  <a:srgbClr val="38BDF8"/>
                </a:solidFill>
              </a:defRPr>
            </a:pPr>
            <a:r>
              <a:t>Password Hashing &amp; Cookies</a:t>
            </a:r>
          </a:p>
          <a:p>
            <a:pPr>
              <a:spcAft>
                <a:spcPts val="600"/>
              </a:spcAft>
              <a:defRPr sz="1300">
                <a:solidFill>
                  <a:srgbClr val="F8FAFC"/>
                </a:solidFill>
              </a:defRPr>
            </a:pPr>
            <a:r>
              <a:t>• PBKDF2-HMAC-SHA256 with 150,000 iterations.</a:t>
            </a:r>
          </a:p>
          <a:p>
            <a:pPr>
              <a:spcAft>
                <a:spcPts val="600"/>
              </a:spcAft>
              <a:defRPr sz="1300">
                <a:solidFill>
                  <a:srgbClr val="F8FAFC"/>
                </a:solidFill>
              </a:defRPr>
            </a:pPr>
            <a:r>
              <a:t>• 16-byte random cryptographic salt.</a:t>
            </a:r>
          </a:p>
          <a:p>
            <a:pPr>
              <a:spcAft>
                <a:spcPts val="600"/>
              </a:spcAft>
              <a:defRPr sz="1300">
                <a:solidFill>
                  <a:srgbClr val="F8FAFC"/>
                </a:solidFill>
              </a:defRPr>
            </a:pPr>
            <a:r>
              <a:t>• Zero plaintext fallback comparison.</a:t>
            </a:r>
          </a:p>
          <a:p>
            <a:pPr>
              <a:spcAft>
                <a:spcPts val="600"/>
              </a:spcAft>
              <a:defRPr sz="1300">
                <a:solidFill>
                  <a:srgbClr val="F8FAFC"/>
                </a:solidFill>
              </a:defRPr>
            </a:pPr>
            <a:r>
              <a:t>• Delivered via HttpOnly + Secure + SameSite=Lax cookies (100% XSS protected).</a:t>
            </a:r>
          </a:p>
        </p:txBody>
      </p:sp>
      <p:sp>
        <p:nvSpPr>
          <p:cNvPr id="7" name="Rounded Rectangle 6"/>
          <p:cNvSpPr/>
          <p:nvPr/>
        </p:nvSpPr>
        <p:spPr>
          <a:xfrm>
            <a:off x="6217920" y="1645920"/>
            <a:ext cx="512064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663440" cy="4206240"/>
          </a:xfrm>
          <a:prstGeom prst="rect">
            <a:avLst/>
          </a:prstGeom>
          <a:noFill/>
        </p:spPr>
        <p:txBody>
          <a:bodyPr wrap="square">
            <a:spAutoFit/>
          </a:bodyPr>
          <a:lstStyle/>
          <a:p>
            <a:pPr>
              <a:spcAft>
                <a:spcPts val="1000"/>
              </a:spcAft>
              <a:defRPr sz="1600" b="1">
                <a:solidFill>
                  <a:srgbClr val="A855F7"/>
                </a:solidFill>
              </a:defRPr>
            </a:pPr>
            <a:r>
              <a:t>Refresh Token Rotation</a:t>
            </a:r>
          </a:p>
          <a:p>
            <a:pPr>
              <a:spcAft>
                <a:spcPts val="600"/>
              </a:spcAft>
              <a:defRPr sz="1300">
                <a:solidFill>
                  <a:srgbClr val="F8FAFC"/>
                </a:solidFill>
              </a:defRPr>
            </a:pPr>
            <a:r>
              <a:t>• Access Token: 15 minutes short-lived validity.</a:t>
            </a:r>
          </a:p>
          <a:p>
            <a:pPr>
              <a:spcAft>
                <a:spcPts val="600"/>
              </a:spcAft>
              <a:defRPr sz="1300">
                <a:solidFill>
                  <a:srgbClr val="F8FAFC"/>
                </a:solidFill>
              </a:defRPr>
            </a:pPr>
            <a:r>
              <a:t>• Refresh Token: 30 days (Remember Me persistent).</a:t>
            </a:r>
          </a:p>
          <a:p>
            <a:pPr>
              <a:spcAft>
                <a:spcPts val="600"/>
              </a:spcAft>
              <a:defRPr sz="1300">
                <a:solidFill>
                  <a:srgbClr val="F8FAFC"/>
                </a:solidFill>
              </a:defRPr>
            </a:pPr>
            <a:r>
              <a:t>• On every refresh, old refresh token is revoked.</a:t>
            </a:r>
          </a:p>
          <a:p>
            <a:pPr>
              <a:spcAft>
                <a:spcPts val="600"/>
              </a:spcAft>
              <a:defRPr sz="1300">
                <a:solidFill>
                  <a:srgbClr val="F8FAFC"/>
                </a:solidFill>
              </a:defRPr>
            </a:pPr>
            <a:r>
              <a:t>• Issuing a fresh pair eliminates Replay Attacks.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 THREAT MITIGATION</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defRPr>
            </a:pPr>
            <a:r>
              <a:t>Brute-Force Defense &amp; Security Headers</a:t>
            </a:r>
          </a:p>
        </p:txBody>
      </p:sp>
      <p:sp>
        <p:nvSpPr>
          <p:cNvPr id="5" name="Rounded Rectangle 4"/>
          <p:cNvSpPr/>
          <p:nvPr/>
        </p:nvSpPr>
        <p:spPr>
          <a:xfrm>
            <a:off x="731520" y="1645920"/>
            <a:ext cx="1069848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10241280" cy="4206240"/>
          </a:xfrm>
          <a:prstGeom prst="rect">
            <a:avLst/>
          </a:prstGeom>
          <a:noFill/>
        </p:spPr>
        <p:txBody>
          <a:bodyPr wrap="square">
            <a:spAutoFit/>
          </a:bodyPr>
          <a:lstStyle/>
          <a:p>
            <a:pPr>
              <a:spcAft>
                <a:spcPts val="1000"/>
              </a:spcAft>
              <a:defRPr sz="1600" b="1">
                <a:solidFill>
                  <a:srgbClr val="FBBF24"/>
                </a:solidFill>
              </a:defRPr>
            </a:pPr>
            <a:r>
              <a:t>Multi-Layer Attack Prevention</a:t>
            </a:r>
          </a:p>
          <a:p>
            <a:pPr>
              <a:spcAft>
                <a:spcPts val="600"/>
              </a:spcAft>
              <a:defRPr sz="1300">
                <a:solidFill>
                  <a:srgbClr val="F8FAFC"/>
                </a:solidFill>
              </a:defRPr>
            </a:pPr>
            <a:r>
              <a:t>• Sliding-Window IP Rate Limiter: Max 10 attempts per 15 minutes on authentication endpoints.</a:t>
            </a:r>
          </a:p>
          <a:p>
            <a:pPr>
              <a:spcAft>
                <a:spcPts val="600"/>
              </a:spcAft>
              <a:defRPr sz="1300">
                <a:solidFill>
                  <a:srgbClr val="F8FAFC"/>
                </a:solidFill>
              </a:defRPr>
            </a:pPr>
            <a:r>
              <a:t>• Account Lockout: 5 consecutive failed login attempts trigger HTTP 423 Locked for 15 minutes.</a:t>
            </a:r>
          </a:p>
          <a:p>
            <a:pPr>
              <a:spcAft>
                <a:spcPts val="600"/>
              </a:spcAft>
              <a:defRPr sz="1300">
                <a:solidFill>
                  <a:srgbClr val="F8FAFC"/>
                </a:solidFill>
              </a:defRPr>
            </a:pPr>
            <a:r>
              <a:t>• Content-Security-Policy (CSP): Restricts script execution to self and trusted domains.</a:t>
            </a:r>
          </a:p>
          <a:p>
            <a:pPr>
              <a:spcAft>
                <a:spcPts val="600"/>
              </a:spcAft>
              <a:defRPr sz="1300">
                <a:solidFill>
                  <a:srgbClr val="F8FAFC"/>
                </a:solidFill>
              </a:defRPr>
            </a:pPr>
            <a:r>
              <a:t>• X-Frame-Options: DENY (Prevents Clickjacking attacks).</a:t>
            </a:r>
          </a:p>
          <a:p>
            <a:pPr>
              <a:spcAft>
                <a:spcPts val="600"/>
              </a:spcAft>
              <a:defRPr sz="1300">
                <a:solidFill>
                  <a:srgbClr val="F8FAFC"/>
                </a:solidFill>
              </a:defRPr>
            </a:pPr>
            <a:r>
              <a:t>• X-Content-Type-Options: nosniff (Prevents MIME-type sniffing).</a:t>
            </a:r>
          </a:p>
          <a:p>
            <a:pPr>
              <a:spcAft>
                <a:spcPts val="600"/>
              </a:spcAft>
              <a:defRPr sz="1300">
                <a:solidFill>
                  <a:srgbClr val="F8FAFC"/>
                </a:solidFill>
              </a:defRPr>
            </a:pPr>
            <a:r>
              <a:t>• Referrer-Policy: strict-origin-when-cross-origin.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 FILE UPLOAD SECURITY</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defRPr>
            </a:pPr>
            <a:r>
              <a:t>Media Anti-Tamper &amp; Magic-Byte Validation</a:t>
            </a:r>
          </a:p>
        </p:txBody>
      </p:sp>
      <p:sp>
        <p:nvSpPr>
          <p:cNvPr id="5" name="Rounded Rectangle 4"/>
          <p:cNvSpPr/>
          <p:nvPr/>
        </p:nvSpPr>
        <p:spPr>
          <a:xfrm>
            <a:off x="731520" y="1645920"/>
            <a:ext cx="1069848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10241280" cy="4206240"/>
          </a:xfrm>
          <a:prstGeom prst="rect">
            <a:avLst/>
          </a:prstGeom>
          <a:noFill/>
        </p:spPr>
        <p:txBody>
          <a:bodyPr wrap="square">
            <a:spAutoFit/>
          </a:bodyPr>
          <a:lstStyle/>
          <a:p>
            <a:pPr>
              <a:spcAft>
                <a:spcPts val="1000"/>
              </a:spcAft>
              <a:defRPr sz="1600" b="1">
                <a:solidFill>
                  <a:srgbClr val="38BDF8"/>
                </a:solidFill>
              </a:defRPr>
            </a:pPr>
            <a:r>
              <a:t>Header Byte Inspection vs Extension Trust</a:t>
            </a:r>
          </a:p>
          <a:p>
            <a:pPr>
              <a:spcAft>
                <a:spcPts val="600"/>
              </a:spcAft>
              <a:defRPr sz="1300">
                <a:solidFill>
                  <a:srgbClr val="F8FAFC"/>
                </a:solidFill>
              </a:defRPr>
            </a:pPr>
            <a:r>
              <a:t>• Vulnerability Mitigated: Renaming malicious shell scripts or executables to fake .png extensions.</a:t>
            </a:r>
          </a:p>
          <a:p>
            <a:pPr>
              <a:spcAft>
                <a:spcPts val="600"/>
              </a:spcAft>
              <a:defRPr sz="1300">
                <a:solidFill>
                  <a:srgbClr val="F8FAFC"/>
                </a:solidFill>
              </a:defRPr>
            </a:pPr>
            <a:r>
              <a:t>• Magic Byte Verification: Inspects first 64 raw bytes of uploaded files:</a:t>
            </a:r>
          </a:p>
          <a:p>
            <a:pPr>
              <a:spcAft>
                <a:spcPts val="600"/>
              </a:spcAft>
              <a:defRPr sz="1300">
                <a:solidFill>
                  <a:srgbClr val="F8FAFC"/>
                </a:solidFill>
              </a:defRPr>
            </a:pPr>
            <a:r>
              <a:t>•    • PNG Signature: \x89PNG\r\n\x1a\n</a:t>
            </a:r>
          </a:p>
          <a:p>
            <a:pPr>
              <a:spcAft>
                <a:spcPts val="600"/>
              </a:spcAft>
              <a:defRPr sz="1300">
                <a:solidFill>
                  <a:srgbClr val="F8FAFC"/>
                </a:solidFill>
              </a:defRPr>
            </a:pPr>
            <a:r>
              <a:t>•    • JPEG Signature: \xff\xd8\xff</a:t>
            </a:r>
          </a:p>
          <a:p>
            <a:pPr>
              <a:spcAft>
                <a:spcPts val="600"/>
              </a:spcAft>
              <a:defRPr sz="1300">
                <a:solidFill>
                  <a:srgbClr val="F8FAFC"/>
                </a:solidFill>
              </a:defRPr>
            </a:pPr>
            <a:r>
              <a:t>•    • WebP Signature: RIFF....WEBP</a:t>
            </a:r>
          </a:p>
          <a:p>
            <a:pPr>
              <a:spcAft>
                <a:spcPts val="600"/>
              </a:spcAft>
              <a:defRPr sz="1300">
                <a:solidFill>
                  <a:srgbClr val="F8FAFC"/>
                </a:solidFill>
              </a:defRPr>
            </a:pPr>
            <a:r>
              <a:t>•    • MP4 Signature: ftyp box header in first 20 bytes</a:t>
            </a:r>
          </a:p>
          <a:p>
            <a:pPr>
              <a:spcAft>
                <a:spcPts val="600"/>
              </a:spcAft>
              <a:defRPr sz="1300">
                <a:solidFill>
                  <a:srgbClr val="F8FAFC"/>
                </a:solidFill>
              </a:defRPr>
            </a:pPr>
            <a:r>
              <a:t>• Payload Rejection: Non-matching files rejected with HTTP 400 Bad Request.</a:t>
            </a:r>
          </a:p>
          <a:p>
            <a:pPr>
              <a:spcAft>
                <a:spcPts val="600"/>
              </a:spcAft>
              <a:defRPr sz="1300">
                <a:solidFill>
                  <a:srgbClr val="F8FAFC"/>
                </a:solidFill>
              </a:defRPr>
            </a:pPr>
            <a:r>
              <a:t>• Size Quota: Strict 25 MB file size limit enforced.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 AUTHORIZATION BARRIERS</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defRPr>
            </a:pPr>
            <a:r>
              <a:t>Multi-User Isolation &amp; IDOR / BOLA Defense</a:t>
            </a:r>
          </a:p>
        </p:txBody>
      </p:sp>
      <p:sp>
        <p:nvSpPr>
          <p:cNvPr id="5" name="Rounded Rectangle 4"/>
          <p:cNvSpPr/>
          <p:nvPr/>
        </p:nvSpPr>
        <p:spPr>
          <a:xfrm>
            <a:off x="731520" y="1645920"/>
            <a:ext cx="1069848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10241280" cy="4206240"/>
          </a:xfrm>
          <a:prstGeom prst="rect">
            <a:avLst/>
          </a:prstGeom>
          <a:noFill/>
        </p:spPr>
        <p:txBody>
          <a:bodyPr wrap="square">
            <a:spAutoFit/>
          </a:bodyPr>
          <a:lstStyle/>
          <a:p>
            <a:pPr>
              <a:spcAft>
                <a:spcPts val="1000"/>
              </a:spcAft>
              <a:defRPr sz="1600" b="1">
                <a:solidFill>
                  <a:srgbClr val="A855F7"/>
                </a:solidFill>
              </a:defRPr>
            </a:pPr>
            <a:r>
              <a:t>Strict Server-Side Ownership Enforcement</a:t>
            </a:r>
          </a:p>
          <a:p>
            <a:pPr>
              <a:spcAft>
                <a:spcPts val="600"/>
              </a:spcAft>
              <a:defRPr sz="1300">
                <a:solidFill>
                  <a:srgbClr val="F8FAFC"/>
                </a:solidFill>
              </a:defRPr>
            </a:pPr>
            <a:r>
              <a:t>• Broken Object Level Authorization (BOLA / IDOR) Defense:</a:t>
            </a:r>
          </a:p>
          <a:p>
            <a:pPr>
              <a:spcAft>
                <a:spcPts val="600"/>
              </a:spcAft>
              <a:defRPr sz="1300">
                <a:solidFill>
                  <a:srgbClr val="F8FAFC"/>
                </a:solidFill>
              </a:defRPr>
            </a:pPr>
            <a:r>
              <a:t>•    • Client-supplied user_id parameters are strictly ignored and never trusted.</a:t>
            </a:r>
          </a:p>
          <a:p>
            <a:pPr>
              <a:spcAft>
                <a:spcPts val="600"/>
              </a:spcAft>
              <a:defRPr sz="1300">
                <a:solidFill>
                  <a:srgbClr val="F8FAFC"/>
                </a:solidFill>
              </a:defRPr>
            </a:pPr>
            <a:r>
              <a:t>•    • Database queries filter by verified server session: WHERE user_id = current_user.id.</a:t>
            </a:r>
          </a:p>
          <a:p>
            <a:pPr>
              <a:spcAft>
                <a:spcPts val="600"/>
              </a:spcAft>
              <a:defRPr sz="1300">
                <a:solidFill>
                  <a:srgbClr val="F8FAFC"/>
                </a:solidFill>
              </a:defRPr>
            </a:pPr>
            <a:r>
              <a:t>•    • Unauthorized cross-account operations return HTTP 403 Forbidden.</a:t>
            </a:r>
          </a:p>
          <a:p>
            <a:pPr>
              <a:spcAft>
                <a:spcPts val="600"/>
              </a:spcAft>
              <a:defRPr sz="1300">
                <a:solidFill>
                  <a:srgbClr val="F8FAFC"/>
                </a:solidFill>
              </a:defRPr>
            </a:pPr>
            <a:r>
              <a:t>• Streamlit Session Isolation:</a:t>
            </a:r>
          </a:p>
          <a:p>
            <a:pPr>
              <a:spcAft>
                <a:spcPts val="600"/>
              </a:spcAft>
              <a:defRPr sz="1300">
                <a:solidFill>
                  <a:srgbClr val="F8FAFC"/>
                </a:solidFill>
              </a:defRPr>
            </a:pPr>
            <a:r>
              <a:t>•    • Every visitor receives a UUID-isolated session_id in SQLite.</a:t>
            </a:r>
          </a:p>
          <a:p>
            <a:pPr>
              <a:spcAft>
                <a:spcPts val="600"/>
              </a:spcAft>
              <a:defRPr sz="1300">
                <a:solidFill>
                  <a:srgbClr val="F8FAFC"/>
                </a:solidFill>
              </a:defRPr>
            </a:pPr>
            <a:r>
              <a:t>•    • Guarantees 0% data bleed between concurrent users on public deployments.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 DATA PERSISTENCE MODEL</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defRPr>
            </a:pPr>
            <a:r>
              <a:t>Database Schema &amp; Entity Relationships</a:t>
            </a:r>
          </a:p>
        </p:txBody>
      </p:sp>
      <p:sp>
        <p:nvSpPr>
          <p:cNvPr id="5" name="Rounded Rectangle 4"/>
          <p:cNvSpPr/>
          <p:nvPr/>
        </p:nvSpPr>
        <p:spPr>
          <a:xfrm>
            <a:off x="731520" y="1645920"/>
            <a:ext cx="1069848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10241280" cy="4206240"/>
          </a:xfrm>
          <a:prstGeom prst="rect">
            <a:avLst/>
          </a:prstGeom>
          <a:noFill/>
        </p:spPr>
        <p:txBody>
          <a:bodyPr wrap="square">
            <a:spAutoFit/>
          </a:bodyPr>
          <a:lstStyle/>
          <a:p>
            <a:pPr>
              <a:spcAft>
                <a:spcPts val="1000"/>
              </a:spcAft>
              <a:defRPr sz="1600" b="1">
                <a:solidFill>
                  <a:srgbClr val="FBBF24"/>
                </a:solidFill>
              </a:defRPr>
            </a:pPr>
            <a:r>
              <a:t>Normalized Relational Architecture (SQLAlchemy)</a:t>
            </a:r>
          </a:p>
          <a:p>
            <a:pPr>
              <a:spcAft>
                <a:spcPts val="600"/>
              </a:spcAft>
              <a:defRPr sz="1300">
                <a:solidFill>
                  <a:srgbClr val="F8FAFC"/>
                </a:solidFill>
              </a:defRPr>
            </a:pPr>
            <a:r>
              <a:t>• 1. users: id, name, email, hashed_password, failed_attempts, locked_until, last_login.</a:t>
            </a:r>
          </a:p>
          <a:p>
            <a:pPr>
              <a:spcAft>
                <a:spcPts val="600"/>
              </a:spcAft>
              <a:defRPr sz="1300">
                <a:solidFill>
                  <a:srgbClr val="F8FAFC"/>
                </a:solidFill>
              </a:defRPr>
            </a:pPr>
            <a:r>
              <a:t>• 2. user_sessions: id, user_id, session_token_hash, refresh_token_hash, device_info, is_revoked.</a:t>
            </a:r>
          </a:p>
          <a:p>
            <a:pPr>
              <a:spcAft>
                <a:spcPts val="600"/>
              </a:spcAft>
              <a:defRPr sz="1300">
                <a:solidFill>
                  <a:srgbClr val="F8FAFC"/>
                </a:solidFill>
              </a:defRPr>
            </a:pPr>
            <a:r>
              <a:t>• 3. social_accounts: id, user_id, platform, account_name, access_token (AES encrypted), status.</a:t>
            </a:r>
          </a:p>
          <a:p>
            <a:pPr>
              <a:spcAft>
                <a:spcPts val="600"/>
              </a:spcAft>
              <a:defRPr sz="1300">
                <a:solidFill>
                  <a:srgbClr val="F8FAFC"/>
                </a:solidFill>
              </a:defRPr>
            </a:pPr>
            <a:r>
              <a:t>• 4. post_logs &amp; platform_post_results: Historical audit trail of all omni-channel publications.</a:t>
            </a:r>
          </a:p>
          <a:p>
            <a:pPr>
              <a:spcAft>
                <a:spcPts val="600"/>
              </a:spcAft>
              <a:defRPr sz="1300">
                <a:solidFill>
                  <a:srgbClr val="F8FAFC"/>
                </a:solidFill>
              </a:defRPr>
            </a:pPr>
            <a:r>
              <a:t>• 5. audit_logs: Structured security events (login, logout, token_refresh) with zero secret leakage.</a:t>
            </a:r>
          </a:p>
          <a:p>
            <a:pPr>
              <a:spcAft>
                <a:spcPts val="600"/>
              </a:spcAft>
              <a:defRPr sz="1300">
                <a:solidFill>
                  <a:srgbClr val="F8FAFC"/>
                </a:solidFill>
              </a:defRPr>
            </a:pPr>
            <a:r>
              <a:t>• 6. media_files: Validated MIME metadata, file sizes, and storage paths.</a:t>
            </a:r>
          </a:p>
          <a:p>
            <a:pPr>
              <a:spcAft>
                <a:spcPts val="600"/>
              </a:spcAft>
              <a:defRPr sz="1300">
                <a:solidFill>
                  <a:srgbClr val="F8FAFC"/>
                </a:solidFill>
              </a:defRPr>
            </a:pPr>
            <a:r>
              <a:t>• GDPR Compliance: DELETE /api/account/me cascades and permanently purges all user data.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 USER EXPERIENCE &amp; ACCESSIBILITY</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defRPr>
            </a:pPr>
            <a:r>
              <a:t>Bilingual Glassmorphism User Interface</a:t>
            </a:r>
          </a:p>
        </p:txBody>
      </p:sp>
      <p:sp>
        <p:nvSpPr>
          <p:cNvPr id="5" name="Rounded Rectangle 4"/>
          <p:cNvSpPr/>
          <p:nvPr/>
        </p:nvSpPr>
        <p:spPr>
          <a:xfrm>
            <a:off x="731520" y="1645920"/>
            <a:ext cx="512064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4206240"/>
          </a:xfrm>
          <a:prstGeom prst="rect">
            <a:avLst/>
          </a:prstGeom>
          <a:noFill/>
        </p:spPr>
        <p:txBody>
          <a:bodyPr wrap="square">
            <a:spAutoFit/>
          </a:bodyPr>
          <a:lstStyle/>
          <a:p>
            <a:pPr>
              <a:spcAft>
                <a:spcPts val="1000"/>
              </a:spcAft>
              <a:defRPr sz="1600" b="1">
                <a:solidFill>
                  <a:srgbClr val="38BDF8"/>
                </a:solidFill>
              </a:defRPr>
            </a:pPr>
            <a:r>
              <a:t>Streamlit Studio (app.py)</a:t>
            </a:r>
          </a:p>
          <a:p>
            <a:pPr>
              <a:spcAft>
                <a:spcPts val="600"/>
              </a:spcAft>
              <a:defRPr sz="1300">
                <a:solidFill>
                  <a:srgbClr val="F8FAFC"/>
                </a:solidFill>
              </a:defRPr>
            </a:pPr>
            <a:r>
              <a:t>• Real-time 4K live canvas preview.</a:t>
            </a:r>
          </a:p>
          <a:p>
            <a:pPr>
              <a:spcAft>
                <a:spcPts val="600"/>
              </a:spcAft>
              <a:defRPr sz="1300">
                <a:solidFill>
                  <a:srgbClr val="F8FAFC"/>
                </a:solidFill>
              </a:defRPr>
            </a:pPr>
            <a:r>
              <a:t>• Instant English / हिन्दी language toggle.</a:t>
            </a:r>
          </a:p>
          <a:p>
            <a:pPr>
              <a:spcAft>
                <a:spcPts val="600"/>
              </a:spcAft>
              <a:defRPr sz="1300">
                <a:solidFill>
                  <a:srgbClr val="F8FAFC"/>
                </a:solidFill>
              </a:defRPr>
            </a:pPr>
            <a:r>
              <a:t>• 1-Tap Native Mobile Share Sheet.</a:t>
            </a:r>
          </a:p>
          <a:p>
            <a:pPr>
              <a:spcAft>
                <a:spcPts val="600"/>
              </a:spcAft>
              <a:defRPr sz="1300">
                <a:solidFill>
                  <a:srgbClr val="F8FAFC"/>
                </a:solidFill>
              </a:defRPr>
            </a:pPr>
            <a:r>
              <a:t>• Smart input validation (2-letter name &amp; 10-15 digit phone auto-formatting).</a:t>
            </a:r>
          </a:p>
        </p:txBody>
      </p:sp>
      <p:sp>
        <p:nvSpPr>
          <p:cNvPr id="7" name="Rounded Rectangle 6"/>
          <p:cNvSpPr/>
          <p:nvPr/>
        </p:nvSpPr>
        <p:spPr>
          <a:xfrm>
            <a:off x="6217920" y="1645920"/>
            <a:ext cx="512064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663440" cy="4206240"/>
          </a:xfrm>
          <a:prstGeom prst="rect">
            <a:avLst/>
          </a:prstGeom>
          <a:noFill/>
        </p:spPr>
        <p:txBody>
          <a:bodyPr wrap="square">
            <a:spAutoFit/>
          </a:bodyPr>
          <a:lstStyle/>
          <a:p>
            <a:pPr>
              <a:spcAft>
                <a:spcPts val="1000"/>
              </a:spcAft>
              <a:defRPr sz="1600" b="1">
                <a:solidFill>
                  <a:srgbClr val="A855F7"/>
                </a:solidFill>
              </a:defRPr>
            </a:pPr>
            <a:r>
              <a:t>FullStack SaaS UI (React 18)</a:t>
            </a:r>
          </a:p>
          <a:p>
            <a:pPr>
              <a:spcAft>
                <a:spcPts val="600"/>
              </a:spcAft>
              <a:defRPr sz="1300">
                <a:solidFill>
                  <a:srgbClr val="F8FAFC"/>
                </a:solidFill>
              </a:defRPr>
            </a:pPr>
            <a:r>
              <a:t>• Active Devices Manager (Browser/OS/IP).</a:t>
            </a:r>
          </a:p>
          <a:p>
            <a:pPr>
              <a:spcAft>
                <a:spcPts val="600"/>
              </a:spcAft>
              <a:defRPr sz="1300">
                <a:solidFill>
                  <a:srgbClr val="F8FAFC"/>
                </a:solidFill>
              </a:defRPr>
            </a:pPr>
            <a:r>
              <a:t>• 1-Click 'Log Out of All Devices'.</a:t>
            </a:r>
          </a:p>
          <a:p>
            <a:pPr>
              <a:spcAft>
                <a:spcPts val="600"/>
              </a:spcAft>
              <a:defRPr sz="1300">
                <a:solidFill>
                  <a:srgbClr val="F8FAFC"/>
                </a:solidFill>
              </a:defRPr>
            </a:pPr>
            <a:r>
              <a:t>• Individual device session revocation.</a:t>
            </a:r>
          </a:p>
          <a:p>
            <a:pPr>
              <a:spcAft>
                <a:spcPts val="600"/>
              </a:spcAft>
              <a:defRPr sz="1300">
                <a:solidFill>
                  <a:srgbClr val="F8FAFC"/>
                </a:solidFill>
              </a:defRPr>
            </a:pPr>
            <a:r>
              <a:t>• Security audit logs viewer.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 23/23 TESTS PASSED (100%)</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defRPr>
            </a:pPr>
            <a:r>
              <a:t>Testing &amp; Verification Benchmark Results</a:t>
            </a:r>
          </a:p>
        </p:txBody>
      </p:sp>
      <p:sp>
        <p:nvSpPr>
          <p:cNvPr id="5" name="Rounded Rectangle 4"/>
          <p:cNvSpPr/>
          <p:nvPr/>
        </p:nvSpPr>
        <p:spPr>
          <a:xfrm>
            <a:off x="731520" y="1645920"/>
            <a:ext cx="512064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663440" cy="4206240"/>
          </a:xfrm>
          <a:prstGeom prst="rect">
            <a:avLst/>
          </a:prstGeom>
          <a:noFill/>
        </p:spPr>
        <p:txBody>
          <a:bodyPr wrap="square">
            <a:spAutoFit/>
          </a:bodyPr>
          <a:lstStyle/>
          <a:p>
            <a:pPr>
              <a:spcAft>
                <a:spcPts val="1000"/>
              </a:spcAft>
              <a:defRPr sz="1600" b="1">
                <a:solidFill>
                  <a:srgbClr val="FBBF24"/>
                </a:solidFill>
              </a:defRPr>
            </a:pPr>
            <a:r>
              <a:t>Automated Test Suite Pass Rate</a:t>
            </a:r>
          </a:p>
          <a:p>
            <a:pPr>
              <a:spcAft>
                <a:spcPts val="600"/>
              </a:spcAft>
              <a:defRPr sz="1300">
                <a:solidFill>
                  <a:srgbClr val="F8FAFC"/>
                </a:solidFill>
              </a:defRPr>
            </a:pPr>
            <a:r>
              <a:t>• test_security_suite.py: 8/8 PASSED (PBKDF2, AES-256-GCM, Rotation, Lockout, IDOR, Magic Bytes).</a:t>
            </a:r>
          </a:p>
          <a:p>
            <a:pPr>
              <a:spcAft>
                <a:spcPts val="600"/>
              </a:spcAft>
              <a:defRPr sz="1300">
                <a:solidFill>
                  <a:srgbClr val="F8FAFC"/>
                </a:solidFill>
              </a:defRPr>
            </a:pPr>
            <a:r>
              <a:t>• test_production_suite.py: 8/8 PASSED (10 Concurrent users, 4K render, Multi-Account).</a:t>
            </a:r>
          </a:p>
          <a:p>
            <a:pPr>
              <a:spcAft>
                <a:spcPts val="600"/>
              </a:spcAft>
              <a:defRPr sz="1300">
                <a:solidFill>
                  <a:srgbClr val="F8FAFC"/>
                </a:solidFill>
              </a:defRPr>
            </a:pPr>
            <a:r>
              <a:t>• test_oauth_suite.py: 7/7 PASSED (Meta OAuth, Signed JWT State, Multi-Account).</a:t>
            </a:r>
          </a:p>
        </p:txBody>
      </p:sp>
      <p:sp>
        <p:nvSpPr>
          <p:cNvPr id="7" name="Rounded Rectangle 6"/>
          <p:cNvSpPr/>
          <p:nvPr/>
        </p:nvSpPr>
        <p:spPr>
          <a:xfrm>
            <a:off x="6217920" y="1645920"/>
            <a:ext cx="512064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663440" cy="4206240"/>
          </a:xfrm>
          <a:prstGeom prst="rect">
            <a:avLst/>
          </a:prstGeom>
          <a:noFill/>
        </p:spPr>
        <p:txBody>
          <a:bodyPr wrap="square">
            <a:spAutoFit/>
          </a:bodyPr>
          <a:lstStyle/>
          <a:p>
            <a:pPr>
              <a:spcAft>
                <a:spcPts val="1000"/>
              </a:spcAft>
              <a:defRPr sz="1600" b="1">
                <a:solidFill>
                  <a:srgbClr val="38BDF8"/>
                </a:solidFill>
              </a:defRPr>
            </a:pPr>
            <a:r>
              <a:t>Performance Benchmarks</a:t>
            </a:r>
          </a:p>
          <a:p>
            <a:pPr>
              <a:spcAft>
                <a:spcPts val="600"/>
              </a:spcAft>
              <a:defRPr sz="1300">
                <a:solidFill>
                  <a:srgbClr val="F8FAFC"/>
                </a:solidFill>
              </a:defRPr>
            </a:pPr>
            <a:r>
              <a:t>• 4K Graphic Render Latency: ~0.78 seconds.</a:t>
            </a:r>
          </a:p>
          <a:p>
            <a:pPr>
              <a:spcAft>
                <a:spcPts val="600"/>
              </a:spcAft>
              <a:defRPr sz="1300">
                <a:solidFill>
                  <a:srgbClr val="F8FAFC"/>
                </a:solidFill>
              </a:defRPr>
            </a:pPr>
            <a:r>
              <a:t>• Multi-CDN Upload Latency: ~1.2 seconds.</a:t>
            </a:r>
          </a:p>
          <a:p>
            <a:pPr>
              <a:spcAft>
                <a:spcPts val="600"/>
              </a:spcAft>
              <a:defRPr sz="1300">
                <a:solidFill>
                  <a:srgbClr val="F8FAFC"/>
                </a:solidFill>
              </a:defRPr>
            </a:pPr>
            <a:r>
              <a:t>• End-to-End Omni-Broadcast Latency: &lt; 2.5 seconds.</a:t>
            </a:r>
          </a:p>
          <a:p>
            <a:pPr>
              <a:spcAft>
                <a:spcPts val="600"/>
              </a:spcAft>
              <a:defRPr sz="1300">
                <a:solidFill>
                  <a:srgbClr val="F8FAFC"/>
                </a:solidFill>
              </a:defRPr>
            </a:pPr>
            <a:r>
              <a:t>• Concurrency: 0 race conditions across 10 parallel threads.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38BDF8"/>
                </a:solidFill>
              </a:defRPr>
            </a:pPr>
            <a:r>
              <a:t>● FUTURE ENHANCEMENTS</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F8FAFC"/>
                </a:solidFill>
              </a:defRPr>
            </a:pPr>
            <a:r>
              <a:t>Future Scope &amp; Technical Roadmap</a:t>
            </a:r>
          </a:p>
        </p:txBody>
      </p:sp>
      <p:sp>
        <p:nvSpPr>
          <p:cNvPr id="5" name="Rounded Rectangle 4"/>
          <p:cNvSpPr/>
          <p:nvPr/>
        </p:nvSpPr>
        <p:spPr>
          <a:xfrm>
            <a:off x="731520" y="1645920"/>
            <a:ext cx="10698480" cy="4572000"/>
          </a:xfrm>
          <a:prstGeom prst="roundRect">
            <a:avLst/>
          </a:prstGeom>
          <a:solidFill>
            <a:srgbClr val="1A20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10241280" cy="4206240"/>
          </a:xfrm>
          <a:prstGeom prst="rect">
            <a:avLst/>
          </a:prstGeom>
          <a:noFill/>
        </p:spPr>
        <p:txBody>
          <a:bodyPr wrap="square">
            <a:spAutoFit/>
          </a:bodyPr>
          <a:lstStyle/>
          <a:p>
            <a:pPr>
              <a:spcAft>
                <a:spcPts val="1000"/>
              </a:spcAft>
              <a:defRPr sz="1600" b="1">
                <a:solidFill>
                  <a:srgbClr val="FBBF24"/>
                </a:solidFill>
              </a:defRPr>
            </a:pPr>
            <a:r>
              <a:t>Upcoming Capabilities</a:t>
            </a:r>
          </a:p>
          <a:p>
            <a:pPr>
              <a:spcAft>
                <a:spcPts val="600"/>
              </a:spcAft>
              <a:defRPr sz="1300">
                <a:solidFill>
                  <a:srgbClr val="F8FAFC"/>
                </a:solidFill>
              </a:defRPr>
            </a:pPr>
            <a:r>
              <a:t>• 1. Video Reels Engine: Automated generation of 15-second animated reels with background music.</a:t>
            </a:r>
          </a:p>
          <a:p>
            <a:pPr>
              <a:spcAft>
                <a:spcPts val="600"/>
              </a:spcAft>
              <a:defRPr sz="1300">
                <a:solidFill>
                  <a:srgbClr val="F8FAFC"/>
                </a:solidFill>
              </a:defRPr>
            </a:pPr>
            <a:r>
              <a:t>• 2. Neural AI Voiceovers: Integration with ElevenLabs / Edge-TTS for multi-lingual spoken quotes.</a:t>
            </a:r>
          </a:p>
          <a:p>
            <a:pPr>
              <a:spcAft>
                <a:spcPts val="600"/>
              </a:spcAft>
              <a:defRPr sz="1300">
                <a:solidFill>
                  <a:srgbClr val="F8FAFC"/>
                </a:solidFill>
              </a:defRPr>
            </a:pPr>
            <a:r>
              <a:t>• 3. Smart Calendar Scheduler: Cron-based automated posting queue with visual content calendar.</a:t>
            </a:r>
          </a:p>
          <a:p>
            <a:pPr>
              <a:spcAft>
                <a:spcPts val="600"/>
              </a:spcAft>
              <a:defRPr sz="1300">
                <a:solidFill>
                  <a:srgbClr val="F8FAFC"/>
                </a:solidFill>
              </a:defRPr>
            </a:pPr>
            <a:r>
              <a:t>• 4. Centralized Analytics Dashboard: Aggregated engagement metrics (views, likes, comments, shares).</a:t>
            </a:r>
          </a:p>
          <a:p>
            <a:pPr>
              <a:spcAft>
                <a:spcPts val="600"/>
              </a:spcAft>
              <a:defRPr sz="1300">
                <a:solidFill>
                  <a:srgbClr val="F8FAFC"/>
                </a:solidFill>
              </a:defRPr>
            </a:pPr>
            <a:r>
              <a:t>• 5. AI Thumbnail A/B Testing: Automated variation generation to maximize social engagement.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9966960" cy="4114800"/>
          </a:xfrm>
          <a:prstGeom prst="rect">
            <a:avLst/>
          </a:prstGeom>
          <a:noFill/>
        </p:spPr>
        <p:txBody>
          <a:bodyPr wrap="square">
            <a:spAutoFit/>
          </a:bodyPr>
          <a:lstStyle/>
          <a:p>
            <a:pPr>
              <a:spcAft>
                <a:spcPts val="1500"/>
              </a:spcAft>
              <a:defRPr sz="3200" b="1">
                <a:solidFill>
                  <a:srgbClr val="FBBF24"/>
                </a:solidFill>
              </a:defRPr>
            </a:pPr>
            <a:r>
              <a:t>🏆 CONCLUSION &amp; SUMMARY</a:t>
            </a:r>
          </a:p>
          <a:p>
            <a:pPr>
              <a:spcAft>
                <a:spcPts val="800"/>
              </a:spcAft>
              <a:defRPr sz="1500">
                <a:solidFill>
                  <a:srgbClr val="F8FAFC"/>
                </a:solidFill>
              </a:defRPr>
            </a:pPr>
            <a:r>
              <a:t>• Built a production-grade Agentic AI Omni-Studio with 1-click multi-platform broadcasting.</a:t>
            </a:r>
          </a:p>
          <a:p>
            <a:pPr>
              <a:spcAft>
                <a:spcPts val="800"/>
              </a:spcAft>
              <a:defRPr sz="1500">
                <a:solidFill>
                  <a:srgbClr val="F8FAFC"/>
                </a:solidFill>
              </a:defRPr>
            </a:pPr>
            <a:r>
              <a:t>• Eliminated copy-paste fragmentation via 5-platform AI content adaptation (Slide 8).</a:t>
            </a:r>
          </a:p>
          <a:p>
            <a:pPr>
              <a:spcAft>
                <a:spcPts val="800"/>
              </a:spcAft>
              <a:defRPr sz="1500">
                <a:solidFill>
                  <a:srgbClr val="F8FAFC"/>
                </a:solidFill>
              </a:defRPr>
            </a:pPr>
            <a:r>
              <a:t>• Provided zero-token simplicity for normal users alongside professional OAuth API workflows.</a:t>
            </a:r>
          </a:p>
          <a:p>
            <a:pPr>
              <a:spcAft>
                <a:spcPts val="800"/>
              </a:spcAft>
              <a:defRPr sz="1500">
                <a:solidFill>
                  <a:srgbClr val="F8FAFC"/>
                </a:solidFill>
              </a:defRPr>
            </a:pPr>
            <a:r>
              <a:t>• Hardened with AES-256-GCM token encryption, HttpOnly cookies, and Refresh Token Rotation.</a:t>
            </a:r>
          </a:p>
          <a:p>
            <a:pPr>
              <a:spcAft>
                <a:spcPts val="800"/>
              </a:spcAft>
              <a:defRPr sz="1500">
                <a:solidFill>
                  <a:srgbClr val="F8FAFC"/>
                </a:solidFill>
              </a:defRPr>
            </a:pPr>
            <a:r>
              <a:t>• Live Deployment: https://dileep-ai-studio.streamlit.app  |  GitHub: Agentic-Social-Studio</a:t>
            </a:r>
          </a:p>
          <a:p>
            <a:br/>
            <a:pPr>
              <a:defRPr sz="1600" b="1">
                <a:solidFill>
                  <a:srgbClr val="38BDF8"/>
                </a:solidFill>
              </a:defRPr>
            </a:pPr>
            <a:r>
              <a:t>Thank you! I am now ready for your questions. (Q&amp;A Session)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